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5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0BC4-9714-BE08-7AB2-BF9086C0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73CF3-3AF5-A2AD-0916-F0AE0AFB5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DD334-A5C0-34C6-9EC1-E6E308FE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094C0-FE25-B17F-0681-7B7FA3A9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FDFC1-D0D8-1980-2574-414663CC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3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A499-ACE2-0CDA-4206-6A1767AF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A273-AABC-7DAC-8E8A-E8D2FC9CE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6255-68A7-29ED-AC33-B084C4FD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17988-8852-827A-942E-34990B21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D9181-6C10-8E4D-618C-110A731F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14D3-C04C-C963-A929-E2C9F84F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22545-994E-D145-E1AC-D5452E94D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2D2AF-8CC3-1B75-0045-F7E03259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E4C6-4534-B666-D9EC-DFDD4505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659D-8537-1DBD-8AB7-12B83B43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7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FAD0-3E63-6DEB-BDE1-5E8B04C96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2476-B747-2367-0EB1-C9D71026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2620F-F089-E2A0-9543-D4C5C59D5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BF157-6770-B958-EA0F-B047DCF2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3EC4-6AFF-FEEA-FF4D-0F24795F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84FE3-E983-D0FA-4F03-CE6673DF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8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D03D-02EE-25E7-6321-95A819EA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6404F-839B-70A4-80DA-431DBE612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03F57-ADDD-5E78-74BA-2F6B4D901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40F63-2722-12FE-7528-D65749B6B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4818A-E51F-E15F-0C65-B2F511C02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01060-E9B2-D572-3670-E29C3E67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D67C4-2AA9-B974-DE97-268E68BA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8DE56-637F-9C4B-73C4-74B3B166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1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DAA5-C0E8-256B-2B31-8FCC435A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FC8A4-4A6B-A4BD-34F8-6653E673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D49E2E-311E-DE31-4D30-40BD7F7D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C3A7F-56A6-2099-9D15-B3CE2C3A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57EBB-3641-6F47-606E-A4EC9D9C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558CA-60B9-2D4C-8BB5-007C5540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FCFC5-C4AD-B503-4A0F-8029C0A0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A2FE-CF66-7B27-3331-AA5D220D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2BC7F-3796-9023-023D-85DF63BCF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C59A4-A138-15D6-6AA8-77D87C8E3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8B810-D826-DD43-3CC2-17F7E323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2309E-E54D-2A44-00A9-1EAA087C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626B9-C456-1F3A-F0F3-C55FDB49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0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1F9C-DC92-2585-7B82-728F7933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0A43B-8EA5-1166-E756-5C9F4DF1A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239EE-DD52-45DA-7000-02CB6FCDC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A0FBC-515D-66E4-1231-F7663C79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F095D-82FA-A0A0-5897-CFD9ACFA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EF19F-DF76-07E0-F2D1-8C4C4AA6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7285A-902C-0D3B-00F3-27414CEA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B236A-157D-3571-34ED-6FFC4C49A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DFB27-0094-B6D0-1AF0-577E5FC9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2AE6E-C9BF-39FA-8C88-A379C5CC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E270F-340A-26B2-92B8-67653D02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3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9454A-D421-0F09-FAA7-DC9E92133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37C2B-D5D3-86D5-F948-77C770E8F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452BD-275C-1BA8-0C53-D4EDF075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D7A30-5412-CBBA-BF44-5FD2658D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0474-2AAB-70CF-8E70-DB9DBB85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E8FE8-2209-D2D6-ABA3-A25D9BE3F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B3662-A0F3-33EC-176A-FC3113518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D0C-7C3A-9828-9C2A-C3F2B39BF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5A3E5-4B1C-4924-BA5B-4C233C65958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2A104-A516-DCF7-C63A-E08E73AC5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698F5-FBFB-F86B-06CB-59E6C84F7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BA6B6-6172-4447-9241-E54DD9BA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6840-CC85-9255-8386-4FCC1D7A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784"/>
            <a:ext cx="9144000" cy="2387600"/>
          </a:xfrm>
        </p:spPr>
        <p:txBody>
          <a:bodyPr/>
          <a:lstStyle/>
          <a:p>
            <a:r>
              <a:rPr lang="en-US" dirty="0"/>
              <a:t>Multi Tone </a:t>
            </a:r>
            <a:r>
              <a:rPr lang="en-US" dirty="0" err="1"/>
              <a:t>Vivado</a:t>
            </a:r>
            <a:r>
              <a:rPr lang="en-US" dirty="0"/>
              <a:t> BD Breakdown</a:t>
            </a:r>
          </a:p>
        </p:txBody>
      </p:sp>
    </p:spTree>
    <p:extLst>
      <p:ext uri="{BB962C8B-B14F-4D97-AF65-F5344CB8AC3E}">
        <p14:creationId xmlns:p14="http://schemas.microsoft.com/office/powerpoint/2010/main" val="329008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4E189-0533-0C45-F904-C457DBC094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921"/>
            <a:ext cx="12192000" cy="5526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897A05-DDB6-CDE7-2275-9E429F920C6A}"/>
              </a:ext>
            </a:extLst>
          </p:cNvPr>
          <p:cNvSpPr/>
          <p:nvPr/>
        </p:nvSpPr>
        <p:spPr>
          <a:xfrm>
            <a:off x="46892" y="4171950"/>
            <a:ext cx="741175" cy="1543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7F1D6F-C4F0-B967-B8A6-678F0717BCD9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H="1" flipV="1">
            <a:off x="417480" y="5715000"/>
            <a:ext cx="394526" cy="462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399D4E-431B-007B-9697-C5B2FD225A5B}"/>
              </a:ext>
            </a:extLst>
          </p:cNvPr>
          <p:cNvSpPr txBox="1"/>
          <p:nvPr/>
        </p:nvSpPr>
        <p:spPr>
          <a:xfrm>
            <a:off x="-42863" y="6177790"/>
            <a:ext cx="1709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I/</a:t>
            </a:r>
            <a:r>
              <a:rPr lang="en-US" dirty="0" err="1">
                <a:solidFill>
                  <a:srgbClr val="FF0000"/>
                </a:solidFill>
              </a:rPr>
              <a:t>Os</a:t>
            </a:r>
            <a:r>
              <a:rPr lang="en-US" dirty="0">
                <a:solidFill>
                  <a:srgbClr val="FF0000"/>
                </a:solidFill>
              </a:rPr>
              <a:t> controlling ch1/2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548FC6-BC35-33C1-234A-654D37C16DF5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42936" y="3709160"/>
            <a:ext cx="585914" cy="2616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A205BD-E441-CE2E-88BA-1641C681531C}"/>
              </a:ext>
            </a:extLst>
          </p:cNvPr>
          <p:cNvSpPr txBox="1"/>
          <p:nvPr/>
        </p:nvSpPr>
        <p:spPr>
          <a:xfrm>
            <a:off x="-66802" y="3447550"/>
            <a:ext cx="1709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FPGACLK FROM CDCE = 250MHz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A8E7ED-8FAA-9D22-310D-817661BB54A0}"/>
              </a:ext>
            </a:extLst>
          </p:cNvPr>
          <p:cNvSpPr/>
          <p:nvPr/>
        </p:nvSpPr>
        <p:spPr>
          <a:xfrm>
            <a:off x="2194781" y="4867275"/>
            <a:ext cx="696058" cy="1324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FFB7F-12E4-B98A-5ED1-3EBAA6B8E9C3}"/>
              </a:ext>
            </a:extLst>
          </p:cNvPr>
          <p:cNvSpPr txBox="1"/>
          <p:nvPr/>
        </p:nvSpPr>
        <p:spPr>
          <a:xfrm>
            <a:off x="2074830" y="6192078"/>
            <a:ext cx="170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Profile address[5:0]: {BYPASS, 000,PR1,PR0}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B8ABD9-0E70-E6C8-69A9-5F9907944A87}"/>
              </a:ext>
            </a:extLst>
          </p:cNvPr>
          <p:cNvSpPr txBox="1"/>
          <p:nvPr/>
        </p:nvSpPr>
        <p:spPr>
          <a:xfrm>
            <a:off x="3732179" y="5658678"/>
            <a:ext cx="1506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CONTROLS BYPASS AND DDS_EN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A0328-D23B-6782-1DFF-2CC630A032A0}"/>
              </a:ext>
            </a:extLst>
          </p:cNvPr>
          <p:cNvSpPr txBox="1"/>
          <p:nvPr/>
        </p:nvSpPr>
        <p:spPr>
          <a:xfrm>
            <a:off x="6507907" y="5946395"/>
            <a:ext cx="1506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CONNECTED TO FPGA_CLK and divides the clock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081572-5706-BE8D-E989-AE545C0AFB35}"/>
              </a:ext>
            </a:extLst>
          </p:cNvPr>
          <p:cNvSpPr txBox="1"/>
          <p:nvPr/>
        </p:nvSpPr>
        <p:spPr>
          <a:xfrm>
            <a:off x="8627220" y="5012347"/>
            <a:ext cx="150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Interleaves MT1 with MT0 so rising edge of FPGA_CLK/4: OUT = {CH1I,CH1Q}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FALLINGEDGE: OUT= 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{CH2I,CH2Q}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1875BB-CE5F-8985-9D4B-2DEA987830D4}"/>
              </a:ext>
            </a:extLst>
          </p:cNvPr>
          <p:cNvSpPr txBox="1"/>
          <p:nvPr/>
        </p:nvSpPr>
        <p:spPr>
          <a:xfrm>
            <a:off x="10133791" y="4689181"/>
            <a:ext cx="15065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OUTPUTS DATA TO DAC2 WITH DATACLK= FPGACLK/2</a:t>
            </a:r>
          </a:p>
        </p:txBody>
      </p:sp>
    </p:spTree>
    <p:extLst>
      <p:ext uri="{BB962C8B-B14F-4D97-AF65-F5344CB8AC3E}">
        <p14:creationId xmlns:p14="http://schemas.microsoft.com/office/powerpoint/2010/main" val="59871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9AE01B-8D10-6028-5E65-7EC8BA1CB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5535"/>
            <a:ext cx="12192000" cy="51269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18D820-1AAF-3613-9A34-B230C7D249CA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2032898" y="4894385"/>
            <a:ext cx="0" cy="1033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690B8E6-01A7-8211-A815-D5BE9E5B80B8}"/>
              </a:ext>
            </a:extLst>
          </p:cNvPr>
          <p:cNvSpPr/>
          <p:nvPr/>
        </p:nvSpPr>
        <p:spPr>
          <a:xfrm>
            <a:off x="1642936" y="4245952"/>
            <a:ext cx="779923" cy="648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BD5E5-1BF5-0211-8998-05D785E8FDFA}"/>
              </a:ext>
            </a:extLst>
          </p:cNvPr>
          <p:cNvSpPr txBox="1"/>
          <p:nvPr/>
        </p:nvSpPr>
        <p:spPr>
          <a:xfrm>
            <a:off x="1178029" y="5927988"/>
            <a:ext cx="1709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COUNTS 0 TO 7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ABFFB9-D1CF-384C-62F5-827975C3B4BE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5310626" y="4820362"/>
            <a:ext cx="0" cy="1033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8F9941D-2988-4143-0E9E-0D11CEF56F5C}"/>
              </a:ext>
            </a:extLst>
          </p:cNvPr>
          <p:cNvSpPr/>
          <p:nvPr/>
        </p:nvSpPr>
        <p:spPr>
          <a:xfrm>
            <a:off x="4920664" y="4171929"/>
            <a:ext cx="779923" cy="648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1B3D7-CE0F-AFCC-D4B7-C87E8476592B}"/>
              </a:ext>
            </a:extLst>
          </p:cNvPr>
          <p:cNvSpPr txBox="1"/>
          <p:nvPr/>
        </p:nvSpPr>
        <p:spPr>
          <a:xfrm>
            <a:off x="4455757" y="5853965"/>
            <a:ext cx="1709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CREATES THE TIME VECTOR FOR THE SINE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479CA3-947D-B8C1-BE9C-95CB92BF9E88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5321059" y="2035538"/>
            <a:ext cx="11596" cy="923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D642B0F-25FF-D7BE-7FA4-4442B15F1145}"/>
              </a:ext>
            </a:extLst>
          </p:cNvPr>
          <p:cNvSpPr/>
          <p:nvPr/>
        </p:nvSpPr>
        <p:spPr>
          <a:xfrm>
            <a:off x="4964723" y="2959522"/>
            <a:ext cx="735864" cy="1073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64D6A5-4A4E-9664-5F8A-34734EC34FDE}"/>
              </a:ext>
            </a:extLst>
          </p:cNvPr>
          <p:cNvSpPr txBox="1"/>
          <p:nvPr/>
        </p:nvSpPr>
        <p:spPr>
          <a:xfrm>
            <a:off x="4710240" y="1573873"/>
            <a:ext cx="122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CLK_DIV2: BIT0</a:t>
            </a:r>
          </a:p>
          <a:p>
            <a:r>
              <a:rPr lang="en-US" sz="1200" dirty="0">
                <a:solidFill>
                  <a:srgbClr val="FF0000"/>
                </a:solidFill>
              </a:rPr>
              <a:t>CLK_DIV4: BIT1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4C4D64-9BA2-9219-D558-6B6CCFAF9C36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9054174" y="5810757"/>
            <a:ext cx="0" cy="274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61C1D78-9018-6F1D-7C2A-2537E9273067}"/>
              </a:ext>
            </a:extLst>
          </p:cNvPr>
          <p:cNvSpPr/>
          <p:nvPr/>
        </p:nvSpPr>
        <p:spPr>
          <a:xfrm>
            <a:off x="6746641" y="4128721"/>
            <a:ext cx="4615066" cy="1682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547F0-805C-4FEF-D993-FDDB4D385266}"/>
              </a:ext>
            </a:extLst>
          </p:cNvPr>
          <p:cNvSpPr txBox="1"/>
          <p:nvPr/>
        </p:nvSpPr>
        <p:spPr>
          <a:xfrm>
            <a:off x="6746641" y="6084797"/>
            <a:ext cx="4615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CHOOSES THE SIZE OF THE AMPLITUDE. SAVED IN BRAM AS AMP_PROFILES OF [NUM_STEPS, STEP_SIZE]. STEP SIZE COULD BE NEGATIVE TO REDUCE THE SIZE OF THE AMPLITUDE.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22579EF-22DF-56E5-0365-829B1197C35A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>
            <a:off x="8348751" y="943445"/>
            <a:ext cx="904921" cy="665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6C8AB09-96E9-1EF6-3B34-3DF5853AD53D}"/>
              </a:ext>
            </a:extLst>
          </p:cNvPr>
          <p:cNvSpPr/>
          <p:nvPr/>
        </p:nvSpPr>
        <p:spPr>
          <a:xfrm>
            <a:off x="8852755" y="1608464"/>
            <a:ext cx="801834" cy="15040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2B094D-1884-CC59-DEC8-7BEE22E2D16D}"/>
              </a:ext>
            </a:extLst>
          </p:cNvPr>
          <p:cNvSpPr txBox="1"/>
          <p:nvPr/>
        </p:nvSpPr>
        <p:spPr>
          <a:xfrm>
            <a:off x="6746641" y="297114"/>
            <a:ext cx="320421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DOES (I/Q_OUT)*AMP</a:t>
            </a:r>
          </a:p>
          <a:p>
            <a:r>
              <a:rPr lang="en-US" sz="1200" dirty="0">
                <a:solidFill>
                  <a:srgbClr val="FF0000"/>
                </a:solidFill>
              </a:rPr>
              <a:t>USE MULTS, SPEED OPTIMISED, 1 CYCLE DELAY. I/Q 16B SIGNED, AMP 16B UNSIGNED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EFF1AF5-E4C8-C85A-E8B2-F02C284ED827}"/>
              </a:ext>
            </a:extLst>
          </p:cNvPr>
          <p:cNvCxnSpPr>
            <a:cxnSpLocks/>
            <a:stCxn id="49" idx="2"/>
            <a:endCxn id="48" idx="0"/>
          </p:cNvCxnSpPr>
          <p:nvPr/>
        </p:nvCxnSpPr>
        <p:spPr>
          <a:xfrm flipH="1">
            <a:off x="10801810" y="933695"/>
            <a:ext cx="269620" cy="813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93749F3-B78A-330F-E70D-BD1B03298306}"/>
              </a:ext>
            </a:extLst>
          </p:cNvPr>
          <p:cNvSpPr/>
          <p:nvPr/>
        </p:nvSpPr>
        <p:spPr>
          <a:xfrm>
            <a:off x="10334651" y="1746963"/>
            <a:ext cx="934318" cy="1568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634EFB-1349-6FE1-EDEC-1437B11807B6}"/>
              </a:ext>
            </a:extLst>
          </p:cNvPr>
          <p:cNvSpPr txBox="1"/>
          <p:nvPr/>
        </p:nvSpPr>
        <p:spPr>
          <a:xfrm>
            <a:off x="10047329" y="287364"/>
            <a:ext cx="204820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SMOOTHS OUPUT USING INTERPOLATION OVER 4 SAMPLES</a:t>
            </a:r>
          </a:p>
        </p:txBody>
      </p:sp>
    </p:spTree>
    <p:extLst>
      <p:ext uri="{BB962C8B-B14F-4D97-AF65-F5344CB8AC3E}">
        <p14:creationId xmlns:p14="http://schemas.microsoft.com/office/powerpoint/2010/main" val="273078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DC14FE-F4A3-077B-DFE8-16734498B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247" y="850662"/>
            <a:ext cx="3276475" cy="608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8750D-3559-688C-3CF9-CD07C0CEF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83" y="2973294"/>
            <a:ext cx="3494682" cy="3753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A491BA-0A68-AEC1-A7A0-FFD21B135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707" y="2973294"/>
            <a:ext cx="3615114" cy="37362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818CC6-E1A9-1ABB-E2EB-3A6C05083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33" y="2973294"/>
            <a:ext cx="4341102" cy="36596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094A8A-D6BD-2211-5FE6-2AEBA13D4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86" y="324974"/>
            <a:ext cx="7287642" cy="264832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9FFC6D5-4279-D5C2-8251-CA4E20F51071}"/>
              </a:ext>
            </a:extLst>
          </p:cNvPr>
          <p:cNvSpPr/>
          <p:nvPr/>
        </p:nvSpPr>
        <p:spPr>
          <a:xfrm>
            <a:off x="6277708" y="1395046"/>
            <a:ext cx="1420113" cy="1568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2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20B6-7E8C-24FE-262D-602D44EB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D731CB3-550C-AC96-4AF3-7C7202FAC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86" y="324974"/>
            <a:ext cx="7287642" cy="264832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D35782-BD09-166D-1263-A660D87FA186}"/>
              </a:ext>
            </a:extLst>
          </p:cNvPr>
          <p:cNvSpPr/>
          <p:nvPr/>
        </p:nvSpPr>
        <p:spPr>
          <a:xfrm>
            <a:off x="3387969" y="1811215"/>
            <a:ext cx="2052909" cy="1144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26052F-BE96-18CD-71D5-D765073FD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877" y="3073301"/>
            <a:ext cx="4290384" cy="35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6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57E4CB-93C9-716E-D85C-B93373E598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71" y="334108"/>
            <a:ext cx="10443658" cy="641916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531E3D-FD7C-281C-5307-349B13DD3CDF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 flipV="1">
            <a:off x="6279751" y="900846"/>
            <a:ext cx="3069403" cy="1509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D9230D6-14EE-BC4D-0AB4-555BB22C7352}"/>
              </a:ext>
            </a:extLst>
          </p:cNvPr>
          <p:cNvSpPr/>
          <p:nvPr/>
        </p:nvSpPr>
        <p:spPr>
          <a:xfrm>
            <a:off x="5499828" y="834537"/>
            <a:ext cx="779923" cy="132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37D7B-9F15-C25E-A6B5-054B88A7E4E6}"/>
              </a:ext>
            </a:extLst>
          </p:cNvPr>
          <p:cNvSpPr txBox="1"/>
          <p:nvPr/>
        </p:nvSpPr>
        <p:spPr>
          <a:xfrm>
            <a:off x="9349154" y="751710"/>
            <a:ext cx="284284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SHOULD BE [14:0]. IN ADDRESS EDITOR: </a:t>
            </a:r>
            <a:br>
              <a:rPr lang="en-US" sz="1100" dirty="0">
                <a:solidFill>
                  <a:srgbClr val="FF0000"/>
                </a:solidFill>
              </a:rPr>
            </a:br>
            <a:r>
              <a:rPr lang="en-US" sz="1100" dirty="0">
                <a:solidFill>
                  <a:srgbClr val="FF0000"/>
                </a:solidFill>
              </a:rPr>
              <a:t>/</a:t>
            </a:r>
            <a:r>
              <a:rPr lang="en-US" sz="1100" dirty="0" err="1">
                <a:solidFill>
                  <a:srgbClr val="FF0000"/>
                </a:solidFill>
              </a:rPr>
              <a:t>MT_x</a:t>
            </a:r>
            <a:r>
              <a:rPr lang="en-US" sz="1100" dirty="0">
                <a:solidFill>
                  <a:srgbClr val="FF0000"/>
                </a:solidFill>
              </a:rPr>
              <a:t>/IQ_32tones_w_bram/axi_bram_ctrl_0/S_AXI SIZE SHOULD BE 32K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2DC35A-0588-8BC7-22A9-C51E1A760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4" y="2063261"/>
            <a:ext cx="1088777" cy="424375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FE284A-2464-C5C9-98F2-12A2F0A583E8}"/>
              </a:ext>
            </a:extLst>
          </p:cNvPr>
          <p:cNvCxnSpPr>
            <a:cxnSpLocks/>
            <a:stCxn id="29" idx="2"/>
            <a:endCxn id="23" idx="0"/>
          </p:cNvCxnSpPr>
          <p:nvPr/>
        </p:nvCxnSpPr>
        <p:spPr>
          <a:xfrm>
            <a:off x="621324" y="1638692"/>
            <a:ext cx="133019" cy="424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24A993-4EDC-FC9B-9E7C-776C79CF7589}"/>
              </a:ext>
            </a:extLst>
          </p:cNvPr>
          <p:cNvSpPr txBox="1"/>
          <p:nvPr/>
        </p:nvSpPr>
        <p:spPr>
          <a:xfrm>
            <a:off x="158262" y="869251"/>
            <a:ext cx="926123" cy="76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INSIDE SLICING OF EACH TONE WORD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E1679C-6B4B-0084-DFD3-B2DEDD8BAD7B}"/>
              </a:ext>
            </a:extLst>
          </p:cNvPr>
          <p:cNvSpPr txBox="1"/>
          <p:nvPr/>
        </p:nvSpPr>
        <p:spPr>
          <a:xfrm>
            <a:off x="209954" y="2063260"/>
            <a:ext cx="1088777" cy="4243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0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1A9CA5A-6670-F59B-A017-404ECAEC49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14" t="-821" r="17809" b="67823"/>
          <a:stretch>
            <a:fillRect/>
          </a:stretch>
        </p:blipFill>
        <p:spPr>
          <a:xfrm>
            <a:off x="304800" y="169985"/>
            <a:ext cx="4695094" cy="21218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E38598-E6C4-8E50-07BE-B657F906987B}"/>
              </a:ext>
            </a:extLst>
          </p:cNvPr>
          <p:cNvSpPr/>
          <p:nvPr/>
        </p:nvSpPr>
        <p:spPr>
          <a:xfrm>
            <a:off x="3856892" y="281354"/>
            <a:ext cx="1039114" cy="2010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55F34-5565-7F23-61A2-41835E540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9738"/>
            <a:ext cx="2995210" cy="3087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8F983-C42E-D51A-FB5C-29F1D4C2F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272" y="2889738"/>
            <a:ext cx="2916082" cy="35462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2DAE59-9568-FEE4-0BFA-5F65A00A56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89738"/>
            <a:ext cx="3083161" cy="33462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F25F79-64B4-6902-B264-0827894684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807" y="2889738"/>
            <a:ext cx="2853595" cy="23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3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8058-018A-DE74-275E-AC9BD729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CF4CB11-D7F3-030F-A7BF-5019A70A6D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14" t="-821" r="17809" b="67823"/>
          <a:stretch>
            <a:fillRect/>
          </a:stretch>
        </p:blipFill>
        <p:spPr>
          <a:xfrm>
            <a:off x="304800" y="169985"/>
            <a:ext cx="4695094" cy="21218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3B5B46-D084-0D68-B3FB-5F090A2FE90F}"/>
              </a:ext>
            </a:extLst>
          </p:cNvPr>
          <p:cNvSpPr/>
          <p:nvPr/>
        </p:nvSpPr>
        <p:spPr>
          <a:xfrm>
            <a:off x="345831" y="225669"/>
            <a:ext cx="1801114" cy="1532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155C0-D4DA-8788-F9D5-604876DB2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31" y="2637692"/>
            <a:ext cx="3012539" cy="364880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B316BA-F569-0C19-43F4-B82193383353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H="1" flipV="1">
            <a:off x="1246388" y="1758462"/>
            <a:ext cx="435113" cy="879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75AF98A-16B4-756F-A3EA-C8C6D4E038CE}"/>
              </a:ext>
            </a:extLst>
          </p:cNvPr>
          <p:cNvSpPr/>
          <p:nvPr/>
        </p:nvSpPr>
        <p:spPr>
          <a:xfrm>
            <a:off x="2538046" y="225668"/>
            <a:ext cx="985600" cy="647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C6886F-603D-BC2E-D9D2-00476290CFA8}"/>
              </a:ext>
            </a:extLst>
          </p:cNvPr>
          <p:cNvCxnSpPr>
            <a:cxnSpLocks/>
            <a:stCxn id="19" idx="1"/>
            <a:endCxn id="13" idx="3"/>
          </p:cNvCxnSpPr>
          <p:nvPr/>
        </p:nvCxnSpPr>
        <p:spPr>
          <a:xfrm flipH="1" flipV="1">
            <a:off x="3523646" y="549519"/>
            <a:ext cx="2669882" cy="1011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B56879B-8F22-776D-4661-F311BE8C3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28" y="484772"/>
            <a:ext cx="3326785" cy="21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8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88C51-F640-EBD5-FA2B-FC52BF30BA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" b="809"/>
          <a:stretch>
            <a:fillRect/>
          </a:stretch>
        </p:blipFill>
        <p:spPr>
          <a:xfrm>
            <a:off x="385123" y="134815"/>
            <a:ext cx="11502077" cy="644183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620FEA-98A4-6E23-1145-736D9654EC7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813611" y="1189741"/>
            <a:ext cx="251973" cy="4339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8BADF4-60AD-A4A8-3DD1-F9459BA67C35}"/>
              </a:ext>
            </a:extLst>
          </p:cNvPr>
          <p:cNvSpPr txBox="1"/>
          <p:nvPr/>
        </p:nvSpPr>
        <p:spPr>
          <a:xfrm>
            <a:off x="1958742" y="543410"/>
            <a:ext cx="1709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Delay 4 cycles, use </a:t>
            </a:r>
            <a:r>
              <a:rPr lang="en-US" sz="1200" dirty="0" err="1">
                <a:solidFill>
                  <a:srgbClr val="FF0000"/>
                </a:solidFill>
              </a:rPr>
              <a:t>mults</a:t>
            </a:r>
            <a:r>
              <a:rPr lang="en-US" sz="1200" dirty="0">
                <a:solidFill>
                  <a:srgbClr val="FF0000"/>
                </a:solidFill>
              </a:rPr>
              <a:t>, speed optimized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EE4897-4F54-29A7-3FD5-B98E0E692826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9190892" y="2269977"/>
            <a:ext cx="1992996" cy="350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6FE7683-A6EA-00D5-5DE6-A4EE80CB73C7}"/>
              </a:ext>
            </a:extLst>
          </p:cNvPr>
          <p:cNvSpPr txBox="1"/>
          <p:nvPr/>
        </p:nvSpPr>
        <p:spPr>
          <a:xfrm>
            <a:off x="10329019" y="1623646"/>
            <a:ext cx="1709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Delay 4 cycles, use </a:t>
            </a:r>
            <a:r>
              <a:rPr lang="en-US" sz="1200" dirty="0" err="1">
                <a:solidFill>
                  <a:srgbClr val="FF0000"/>
                </a:solidFill>
              </a:rPr>
              <a:t>mults</a:t>
            </a:r>
            <a:r>
              <a:rPr lang="en-US" sz="1200" dirty="0">
                <a:solidFill>
                  <a:srgbClr val="FF0000"/>
                </a:solidFill>
              </a:rPr>
              <a:t>, speed optimized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613B72-647A-65E2-468E-D549FC332527}"/>
              </a:ext>
            </a:extLst>
          </p:cNvPr>
          <p:cNvSpPr txBox="1"/>
          <p:nvPr/>
        </p:nvSpPr>
        <p:spPr>
          <a:xfrm>
            <a:off x="8523522" y="417565"/>
            <a:ext cx="3075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Delay 3 cycles</a:t>
            </a: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6B5961-0159-5CF6-D673-9E606109A8A0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173787" y="2848708"/>
            <a:ext cx="1812059" cy="11801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540B45-707E-4D0E-8174-0D5D972B58EC}"/>
              </a:ext>
            </a:extLst>
          </p:cNvPr>
          <p:cNvSpPr txBox="1"/>
          <p:nvPr/>
        </p:nvSpPr>
        <p:spPr>
          <a:xfrm>
            <a:off x="464049" y="3521072"/>
            <a:ext cx="1709738" cy="1015663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Phase delay may ne </a:t>
            </a:r>
            <a:r>
              <a:rPr lang="en-US" sz="1200" dirty="0" err="1">
                <a:solidFill>
                  <a:srgbClr val="FF0000"/>
                </a:solidFill>
              </a:rPr>
              <a:t>unsynced</a:t>
            </a:r>
            <a:r>
              <a:rPr lang="en-US" sz="1200" dirty="0">
                <a:solidFill>
                  <a:srgbClr val="FF0000"/>
                </a:solidFill>
              </a:rPr>
              <a:t>. Add an adder/</a:t>
            </a:r>
            <a:r>
              <a:rPr lang="en-US" sz="1200" dirty="0" err="1">
                <a:solidFill>
                  <a:srgbClr val="FF0000"/>
                </a:solidFill>
              </a:rPr>
              <a:t>substracter</a:t>
            </a:r>
            <a:r>
              <a:rPr lang="en-US" sz="1200" dirty="0">
                <a:solidFill>
                  <a:srgbClr val="FF0000"/>
                </a:solidFill>
              </a:rPr>
              <a:t> with 4 cycles delay to make it work.</a:t>
            </a:r>
          </a:p>
        </p:txBody>
      </p:sp>
    </p:spTree>
    <p:extLst>
      <p:ext uri="{BB962C8B-B14F-4D97-AF65-F5344CB8AC3E}">
        <p14:creationId xmlns:p14="http://schemas.microsoft.com/office/powerpoint/2010/main" val="24518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264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Multi Tone Vivado BD Breakdown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Weizmann Institute of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Tomer Sharon</dc:creator>
  <cp:lastModifiedBy>Tomer Sharon</cp:lastModifiedBy>
  <cp:revision>3</cp:revision>
  <dcterms:created xsi:type="dcterms:W3CDTF">2026-07-20T07:58:36Z</dcterms:created>
  <dcterms:modified xsi:type="dcterms:W3CDTF">2026-07-20T08:39:36Z</dcterms:modified>
</cp:coreProperties>
</file>