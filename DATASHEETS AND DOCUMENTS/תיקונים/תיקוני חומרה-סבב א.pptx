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71" r:id="rId5"/>
    <p:sldId id="258" r:id="rId6"/>
    <p:sldId id="259" r:id="rId7"/>
    <p:sldId id="260" r:id="rId8"/>
    <p:sldId id="272" r:id="rId9"/>
    <p:sldId id="273" r:id="rId10"/>
    <p:sldId id="274" r:id="rId11"/>
    <p:sldId id="275" r:id="rId12"/>
    <p:sldId id="278" r:id="rId13"/>
    <p:sldId id="281" r:id="rId14"/>
    <p:sldId id="277" r:id="rId15"/>
    <p:sldId id="279" r:id="rId16"/>
    <p:sldId id="280" r:id="rId17"/>
    <p:sldId id="282" r:id="rId18"/>
    <p:sldId id="283" r:id="rId19"/>
    <p:sldId id="290" r:id="rId20"/>
    <p:sldId id="291" r:id="rId21"/>
    <p:sldId id="292" r:id="rId22"/>
    <p:sldId id="294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2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4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87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C711-D396-480F-848C-1159F5B86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9B488-244D-43DC-BE2D-BAE973B5B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C8026-32CD-47ED-9B1C-530F49C6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5A598-9E43-4B5B-8BC1-36F09A878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F8139-E087-470B-B2C0-2411CB3C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0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95A5E-863D-4EC5-82B7-B8BCE541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BA67B-9289-4D3F-81B6-0922B326E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56248-7BB5-4116-A2E1-D261531C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B8699-0728-48DF-B9A8-043595E6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EF0EB-CD35-4BD6-9F4C-18DF2B19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34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97CB-B075-4C37-967C-BFDE0B92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A12A7-3A76-4EDF-B595-FF8E5BE23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BBDB9-51C2-483D-92EB-74494D2F9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98378-2E09-43A3-9F8E-8A788B79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610AE-B0E2-4893-A12C-33FACB89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3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3453-FC86-4CA7-8165-DA2C5AB1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915F-291E-43AB-B124-E3395B33A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D3CA1-90DE-42EE-8401-6BACA68F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3E8D6-5934-485E-9616-EC5853B3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193F6-8004-459C-B989-0EA31435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F068D-71FD-4E93-A914-8A3AE2E8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1DC5-5BA4-41EC-8724-0712DA23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9CCA5-36CD-457F-A647-2558CEDF1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8654F-DD83-491D-A4F5-3953BFC71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E3D51-FAC7-46A1-9B17-C6819A1A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4E9F1C-B0FC-4784-BCE7-A301C377F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78822F-30E4-4408-AF0F-DF8E9D58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8FE69D-3442-4557-9C7D-71B8973D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E911E6-ADBB-47FD-A6C5-887CFB99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8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E485-B4A3-40E7-9ACC-67CB19F3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3FFC8-3E93-4E3D-983E-BB3BCB877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15F1B-551A-4DC7-891F-19C103E1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E2985-D727-46C7-8623-170207D1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0C58A-43BC-4DCA-8C43-0038674F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84D7E3-16C5-4194-91A0-BC1EB448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AF024-3727-466F-991B-E94DB370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FE7B-D64F-4D0E-BD82-2AC5BF1A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50086-3BB2-4757-B82C-E3A442FEA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DB9A8-F208-4AF8-9325-A56036F87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BC110-C859-4F48-AE1E-C8096734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CDB19-D2FB-45B7-A8B9-DA9D3F42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7CE79-7CE4-4A4C-A8D0-08DF8BE8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8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E48C-14F5-4876-864E-8217ED71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B48A2-9C33-4506-9EDF-624085450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3C9D0-F16A-490F-8B19-5D0AF1777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41002-C5CD-497D-872F-A272E6F4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6D74-487C-4C8C-AF75-03EA9A31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2E1E3-1837-4434-BE91-1E64C03F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0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4AA3-4FE5-4DF9-AB4D-3D044580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B22EB-781F-46F4-B98A-BD977F976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8615C-3BA0-43BE-9A77-031375457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ECF87-E154-41E4-9BB7-DD88B012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F812-2AF5-4E78-98BB-1756C80B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5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C932D6-FE54-4F0F-A8FD-E1E2DAEEC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2F5E9-84B5-4704-9C5B-0D034E24F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BDC2F-C3AB-440E-B355-A7166CDA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5D970-EB15-4F66-81BB-B3B5E0D63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320-63A4-44CA-81A9-5DF1AD0F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7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13346-F1EE-4F3E-B454-8B7DE7AF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B7194-E843-40D0-94DE-F2688D5F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4ADF4-1F51-42D7-A213-F655B3A0A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B5D66-35BE-4B74-89BA-EDD3ACF3DB9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0C750-F339-4261-BBAD-5C084A1EE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E28CD-5A1D-4AD7-8232-D86FF9AF3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506F4-8ECE-4E3A-A676-8B4787B08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2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slide" Target="slide7.xml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410.png"/><Relationship Id="rId5" Type="http://schemas.openxmlformats.org/officeDocument/2006/relationships/image" Target="../media/image210.png"/><Relationship Id="rId10" Type="http://schemas.openxmlformats.org/officeDocument/2006/relationships/slide" Target="slide5.xml"/><Relationship Id="rId4" Type="http://schemas.openxmlformats.org/officeDocument/2006/relationships/slide" Target="slide3.xml"/><Relationship Id="rId9" Type="http://schemas.openxmlformats.org/officeDocument/2006/relationships/image" Target="../media/image4.png"/><Relationship Id="rId14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slide" Target="slide2.xml"/><Relationship Id="rId4" Type="http://schemas.openxmlformats.org/officeDocument/2006/relationships/image" Target="../media/image8.png"/><Relationship Id="rId9" Type="http://schemas.openxmlformats.org/officeDocument/2006/relationships/image" Target="../media/image9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slide" Target="slide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slide" Target="slide10.xml"/><Relationship Id="rId3" Type="http://schemas.openxmlformats.org/officeDocument/2006/relationships/image" Target="../media/image21.png"/><Relationship Id="rId12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30.png"/><Relationship Id="rId5" Type="http://schemas.openxmlformats.org/officeDocument/2006/relationships/image" Target="../media/image211.png"/><Relationship Id="rId10" Type="http://schemas.openxmlformats.org/officeDocument/2006/relationships/slide" Target="slide9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7.png"/><Relationship Id="rId7" Type="http://schemas.openxmlformats.org/officeDocument/2006/relationships/slide" Target="slide1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9.png"/><Relationship Id="rId7" Type="http://schemas.openxmlformats.org/officeDocument/2006/relationships/slide" Target="slide19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0.png"/><Relationship Id="rId4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www.ti.com/lit/ds/symlink/tps717.pdf?ts=1762082449883&amp;ref_url=https%253A%252F%252Fwww.mouser.pl%252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ti.com/lit/ds/symlink/tps62420.pdf?ts=1762167924340&amp;ref_url=https%253A%252F%252Fwww.mouser.co.il%252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7B23A-FA44-4285-A111-4ED0E7455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תיקוני חומרה שבוצעו במערכת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AC4D9-204F-49D9-941E-47B80396D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7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D3892C-1BC9-4924-AA94-02F32EBF3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25" y="956275"/>
            <a:ext cx="8052070" cy="53741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3200" dirty="0" err="1">
                <a:latin typeface="Arial" panose="020B0604020202020204" pitchFamily="34" charset="0"/>
                <a:cs typeface="Arial" panose="020B0604020202020204" pitchFamily="34" charset="0"/>
              </a:rPr>
              <a:t>ג'אמפר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J2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 החדש (מחובר ל-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DAC1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 ולחלק מה-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ADC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 החדש):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FB01B8-D6E9-410A-8A34-C8A51BF29CA3}"/>
              </a:ext>
            </a:extLst>
          </p:cNvPr>
          <p:cNvSpPr/>
          <p:nvPr/>
        </p:nvSpPr>
        <p:spPr>
          <a:xfrm>
            <a:off x="4744193" y="1319625"/>
            <a:ext cx="2814451" cy="51511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511150-390F-4332-974C-440B576FB46F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532909" y="1496291"/>
            <a:ext cx="1211284" cy="192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492F81-A376-460E-9FD0-3014136AB0B1}"/>
              </a:ext>
            </a:extLst>
          </p:cNvPr>
          <p:cNvSpPr/>
          <p:nvPr/>
        </p:nvSpPr>
        <p:spPr>
          <a:xfrm>
            <a:off x="2072244" y="1436914"/>
            <a:ext cx="1460665" cy="5047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שינויים ב-</a:t>
            </a:r>
            <a:r>
              <a:rPr lang="en-US" dirty="0"/>
              <a:t>:SPI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891C38-0831-44FC-BBEB-9D9FD24C7347}"/>
              </a:ext>
            </a:extLst>
          </p:cNvPr>
          <p:cNvSpPr/>
          <p:nvPr/>
        </p:nvSpPr>
        <p:spPr>
          <a:xfrm>
            <a:off x="3929966" y="4655127"/>
            <a:ext cx="1977241" cy="2612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DF781C-BA12-4109-BA7E-46A3900851A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076596" y="4750191"/>
            <a:ext cx="853370" cy="35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44C0986E-9A98-49FE-8009-6DBCAE7C12A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0690351"/>
                  </p:ext>
                </p:extLst>
              </p:nvPr>
            </p:nvGraphicFramePr>
            <p:xfrm>
              <a:off x="546923" y="1460665"/>
              <a:ext cx="1264064" cy="711036"/>
            </p:xfrm>
            <a:graphic>
              <a:graphicData uri="http://schemas.microsoft.com/office/powerpoint/2016/slidezoom">
                <pslz:sldZm>
                  <pslz:sldZmObj sldId="257" cId="3585078544">
                    <pslz:zmPr id="{6E25BE09-9A02-469C-87BD-373ABE6F78E8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64064" cy="71103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Slide Zoom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4C0986E-9A98-49FE-8009-6DBCAE7C12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6923" y="1460665"/>
                <a:ext cx="1264064" cy="71103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8597088D-8C10-47B2-8CE4-6BB9EE2342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2812324"/>
                  </p:ext>
                </p:extLst>
              </p:nvPr>
            </p:nvGraphicFramePr>
            <p:xfrm>
              <a:off x="546923" y="2262249"/>
              <a:ext cx="1264065" cy="711036"/>
            </p:xfrm>
            <a:graphic>
              <a:graphicData uri="http://schemas.microsoft.com/office/powerpoint/2016/slidezoom">
                <pslz:sldZm>
                  <pslz:sldZmObj sldId="271" cId="2759490134">
                    <pslz:zmPr id="{85876DF5-12E6-4FFE-8EE4-648336169385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64065" cy="71103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1" name="Slide Zoom 2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597088D-8C10-47B2-8CE4-6BB9EE2342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6923" y="2262249"/>
                <a:ext cx="1264065" cy="71103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4" name="Slide Zoom 23">
                <a:extLst>
                  <a:ext uri="{FF2B5EF4-FFF2-40B4-BE49-F238E27FC236}">
                    <a16:creationId xmlns:a16="http://schemas.microsoft.com/office/drawing/2014/main" id="{634B18E0-5F99-476C-B992-416AAEFA1B1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07100043"/>
                  </p:ext>
                </p:extLst>
              </p:nvPr>
            </p:nvGraphicFramePr>
            <p:xfrm>
              <a:off x="1810987" y="4602181"/>
              <a:ext cx="1349503" cy="759095"/>
            </p:xfrm>
            <a:graphic>
              <a:graphicData uri="http://schemas.microsoft.com/office/powerpoint/2016/slidezoom">
                <pslz:sldZm>
                  <pslz:sldZmObj sldId="258" cId="971274381">
                    <pslz:zmPr id="{A32822F2-B6FC-432C-A7C0-F8718A204C54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9503" cy="75909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4" name="Slide Zoom 23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634B18E0-5F99-476C-B992-416AAEFA1B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10987" y="4602181"/>
                <a:ext cx="1349503" cy="75909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00E55FA5-6B41-4870-A251-E1017E6FBA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637087"/>
                  </p:ext>
                </p:extLst>
              </p:nvPr>
            </p:nvGraphicFramePr>
            <p:xfrm>
              <a:off x="376090" y="3122158"/>
              <a:ext cx="1502889" cy="845375"/>
            </p:xfrm>
            <a:graphic>
              <a:graphicData uri="http://schemas.microsoft.com/office/powerpoint/2016/slidezoom">
                <pslz:sldZm>
                  <pslz:sldZmObj sldId="260" cId="4031183555">
                    <pslz:zmPr id="{0ED4445B-2CE2-41C3-BC73-B59BB1E6D3DD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02889" cy="8453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Slide Zoom 2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00E55FA5-6B41-4870-A251-E1017E6FBA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6090" y="3122158"/>
                <a:ext cx="1502889" cy="8453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7D491B9-A08F-410F-9781-2854548E6CE1}"/>
              </a:ext>
            </a:extLst>
          </p:cNvPr>
          <p:cNvSpPr/>
          <p:nvPr/>
        </p:nvSpPr>
        <p:spPr>
          <a:xfrm>
            <a:off x="5833955" y="3576668"/>
            <a:ext cx="1724689" cy="3421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33119D-38C5-4297-841B-BFF4086637B5}"/>
              </a:ext>
            </a:extLst>
          </p:cNvPr>
          <p:cNvCxnSpPr>
            <a:cxnSpLocks/>
            <a:stCxn id="37" idx="1"/>
            <a:endCxn id="35" idx="3"/>
          </p:cNvCxnSpPr>
          <p:nvPr/>
        </p:nvCxnSpPr>
        <p:spPr>
          <a:xfrm flipH="1">
            <a:off x="7558644" y="3330287"/>
            <a:ext cx="1209304" cy="417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AD19745-6861-4D93-BEE0-3B8CFC1F491E}"/>
              </a:ext>
            </a:extLst>
          </p:cNvPr>
          <p:cNvSpPr/>
          <p:nvPr/>
        </p:nvSpPr>
        <p:spPr>
          <a:xfrm>
            <a:off x="8767948" y="2973285"/>
            <a:ext cx="2958935" cy="714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החלפת ה-</a:t>
            </a:r>
            <a:r>
              <a:rPr lang="en-US" dirty="0"/>
              <a:t>FRAME</a:t>
            </a:r>
            <a:r>
              <a:rPr lang="he-IL" dirty="0"/>
              <a:t> ב-</a:t>
            </a:r>
            <a:r>
              <a:rPr lang="en-US" dirty="0"/>
              <a:t>DCLK</a:t>
            </a:r>
            <a:r>
              <a:rPr lang="he-IL" dirty="0"/>
              <a:t>,</a:t>
            </a:r>
          </a:p>
          <a:p>
            <a:pPr algn="ctr" rtl="1"/>
            <a:r>
              <a:rPr lang="he-IL" dirty="0"/>
              <a:t>שימוש ב-</a:t>
            </a:r>
            <a:r>
              <a:rPr lang="en-US" dirty="0"/>
              <a:t>clock capable pins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3BE4BF-8E78-4404-883D-CD6A8C58BD18}"/>
              </a:ext>
            </a:extLst>
          </p:cNvPr>
          <p:cNvSpPr/>
          <p:nvPr/>
        </p:nvSpPr>
        <p:spPr>
          <a:xfrm>
            <a:off x="2391151" y="1983932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0168A3-3208-413E-8FED-E95C4EF45E3A}"/>
              </a:ext>
            </a:extLst>
          </p:cNvPr>
          <p:cNvSpPr/>
          <p:nvPr/>
        </p:nvSpPr>
        <p:spPr>
          <a:xfrm>
            <a:off x="9510592" y="3779764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FB62A7-E555-44B8-8E63-E809A17243C9}"/>
              </a:ext>
            </a:extLst>
          </p:cNvPr>
          <p:cNvSpPr/>
          <p:nvPr/>
        </p:nvSpPr>
        <p:spPr>
          <a:xfrm>
            <a:off x="2391151" y="5421086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80D5717-A9C3-4532-8782-5074301F33F1}"/>
              </a:ext>
            </a:extLst>
          </p:cNvPr>
          <p:cNvSpPr/>
          <p:nvPr/>
        </p:nvSpPr>
        <p:spPr>
          <a:xfrm>
            <a:off x="1178955" y="3975716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Fix4</a:t>
            </a:r>
          </a:p>
        </p:txBody>
      </p:sp>
    </p:spTree>
    <p:extLst>
      <p:ext uri="{BB962C8B-B14F-4D97-AF65-F5344CB8AC3E}">
        <p14:creationId xmlns:p14="http://schemas.microsoft.com/office/powerpoint/2010/main" val="42681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שינויי</a:t>
            </a:r>
            <a:r>
              <a:rPr lang="en-US" dirty="0"/>
              <a:t> </a:t>
            </a:r>
            <a:r>
              <a:rPr lang="he-IL" dirty="0"/>
              <a:t> רגליים </a:t>
            </a:r>
            <a:r>
              <a:rPr lang="en-US" dirty="0"/>
              <a:t>SPI</a:t>
            </a:r>
            <a:r>
              <a:rPr lang="he-IL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5F9A-F283-41A6-89D3-6B5986C3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1799" y="1831563"/>
            <a:ext cx="3569525" cy="4351338"/>
          </a:xfrm>
        </p:spPr>
        <p:txBody>
          <a:bodyPr/>
          <a:lstStyle/>
          <a:p>
            <a:pPr algn="r" rtl="1"/>
            <a:r>
              <a:rPr lang="he-IL" dirty="0"/>
              <a:t>חשוב לציין שעדיין לא ניתן להשתמש בפונקציות מ-</a:t>
            </a:r>
            <a:r>
              <a:rPr lang="en-US" dirty="0" err="1"/>
              <a:t>SPIx</a:t>
            </a:r>
            <a:r>
              <a:rPr lang="he-IL" dirty="0"/>
              <a:t> כיוון שאין מספיק צ'יפ </a:t>
            </a:r>
            <a:r>
              <a:rPr lang="he-IL" dirty="0" err="1"/>
              <a:t>סלקט</a:t>
            </a:r>
            <a:r>
              <a:rPr lang="he-IL" dirty="0"/>
              <a:t>. </a:t>
            </a:r>
          </a:p>
          <a:p>
            <a:pPr algn="r" rtl="1"/>
            <a:r>
              <a:rPr lang="he-IL" dirty="0"/>
              <a:t>שינויים ב</a:t>
            </a:r>
            <a:r>
              <a:rPr lang="en-US" dirty="0" err="1"/>
              <a:t>vitis</a:t>
            </a:r>
            <a:r>
              <a:rPr lang="he-IL" dirty="0"/>
              <a:t>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3A729-F113-41E2-AC61-1CE27AFD9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73" y="5135756"/>
            <a:ext cx="5334744" cy="154326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0981EB-CAA9-4FF0-9AF3-13979EEB6AD5}"/>
              </a:ext>
            </a:extLst>
          </p:cNvPr>
          <p:cNvSpPr/>
          <p:nvPr/>
        </p:nvSpPr>
        <p:spPr>
          <a:xfrm>
            <a:off x="4084495" y="5135756"/>
            <a:ext cx="2179122" cy="350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הסידור החדש מיושם: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030EE3-C1E3-4311-A395-46C670A82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03" y="529807"/>
            <a:ext cx="6155184" cy="4270834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EA13A33A-F000-447B-BA2C-09851115276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3363735"/>
                  </p:ext>
                </p:extLst>
              </p:nvPr>
            </p:nvGraphicFramePr>
            <p:xfrm>
              <a:off x="10605783" y="5939509"/>
              <a:ext cx="1314688" cy="739512"/>
            </p:xfrm>
            <a:graphic>
              <a:graphicData uri="http://schemas.microsoft.com/office/powerpoint/2016/slidezoom">
                <pslz:sldZm>
                  <pslz:sldZmObj sldId="269" cId="426812113">
                    <pslz:zmPr id="{45DA79EF-DF45-4301-93E7-D44FEA6B2F9F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14688" cy="7395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EA13A33A-F000-447B-BA2C-0985111527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05783" y="5939509"/>
                <a:ext cx="1314688" cy="7395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E66B8911-B445-41D7-BF6E-056D8756E1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0940459"/>
                  </p:ext>
                </p:extLst>
              </p:nvPr>
            </p:nvGraphicFramePr>
            <p:xfrm>
              <a:off x="9604022" y="4332858"/>
              <a:ext cx="1427374" cy="802898"/>
            </p:xfrm>
            <a:graphic>
              <a:graphicData uri="http://schemas.microsoft.com/office/powerpoint/2016/slidezoom">
                <pslz:sldZm>
                  <pslz:sldZmObj sldId="271" cId="2759490134">
                    <pslz:zmPr id="{7852BAAF-06B7-4CEE-8480-9CE16ADC6EE2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27374" cy="80289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E66B8911-B445-41D7-BF6E-056D8756E1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04022" y="4332858"/>
                <a:ext cx="1427374" cy="80289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078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השפעה על התוכנה: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5F9A-F283-41A6-89D3-6B5986C3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8365" y="1253331"/>
            <a:ext cx="3569525" cy="4351338"/>
          </a:xfrm>
        </p:spPr>
        <p:txBody>
          <a:bodyPr>
            <a:normAutofit fontScale="92500" lnSpcReduction="10000"/>
          </a:bodyPr>
          <a:lstStyle/>
          <a:p>
            <a:pPr algn="r" rtl="1"/>
            <a:endParaRPr lang="he-IL" dirty="0"/>
          </a:p>
          <a:p>
            <a:pPr algn="r" rtl="1"/>
            <a:r>
              <a:rPr lang="en-US" dirty="0"/>
              <a:t>SPI_MOSI (SDO)</a:t>
            </a:r>
            <a:r>
              <a:rPr lang="en-US" dirty="0">
                <a:sym typeface="Wingdings" panose="05000000000000000000" pitchFamily="2" charset="2"/>
              </a:rPr>
              <a:t> 10</a:t>
            </a:r>
          </a:p>
          <a:p>
            <a:pPr algn="r" rtl="1"/>
            <a:r>
              <a:rPr lang="en-US" dirty="0">
                <a:sym typeface="Wingdings" panose="05000000000000000000" pitchFamily="2" charset="2"/>
              </a:rPr>
              <a:t>SPICLK12</a:t>
            </a:r>
            <a:endParaRPr lang="he-IL" dirty="0">
              <a:sym typeface="Wingdings" panose="05000000000000000000" pitchFamily="2" charset="2"/>
            </a:endParaRPr>
          </a:p>
          <a:p>
            <a:pPr algn="r" rtl="1"/>
            <a:r>
              <a:rPr lang="en-US" dirty="0">
                <a:sym typeface="Wingdings" panose="05000000000000000000" pitchFamily="2" charset="2"/>
              </a:rPr>
              <a:t>SPI_LE15</a:t>
            </a:r>
          </a:p>
          <a:p>
            <a:pPr algn="r" rtl="1"/>
            <a:r>
              <a:rPr lang="en-US" dirty="0">
                <a:sym typeface="Wingdings" panose="05000000000000000000" pitchFamily="2" charset="2"/>
              </a:rPr>
              <a:t>SPI_DAC1 13</a:t>
            </a:r>
          </a:p>
          <a:p>
            <a:pPr algn="r" rtl="1"/>
            <a:r>
              <a:rPr lang="en-US" dirty="0">
                <a:sym typeface="Wingdings" panose="05000000000000000000" pitchFamily="2" charset="2"/>
              </a:rPr>
              <a:t>SPI_MISO11</a:t>
            </a:r>
          </a:p>
          <a:p>
            <a:pPr algn="r" rtl="1"/>
            <a:r>
              <a:rPr lang="en-US" dirty="0"/>
              <a:t>CSB_ADC</a:t>
            </a:r>
            <a:r>
              <a:rPr lang="en-US" dirty="0">
                <a:sym typeface="Wingdings" panose="05000000000000000000" pitchFamily="2" charset="2"/>
              </a:rPr>
              <a:t>0</a:t>
            </a:r>
          </a:p>
          <a:p>
            <a:pPr algn="r" rtl="1"/>
            <a:r>
              <a:rPr lang="en-US" dirty="0">
                <a:sym typeface="Wingdings" panose="05000000000000000000" pitchFamily="2" charset="2"/>
              </a:rPr>
              <a:t>CS_DAC214</a:t>
            </a:r>
            <a:endParaRPr lang="he-IL" dirty="0">
              <a:sym typeface="Wingdings" panose="05000000000000000000" pitchFamily="2" charset="2"/>
            </a:endParaRPr>
          </a:p>
          <a:p>
            <a:pPr algn="r" rtl="1"/>
            <a:r>
              <a:rPr lang="en-US" dirty="0">
                <a:sym typeface="Wingdings" panose="05000000000000000000" pitchFamily="2" charset="2"/>
              </a:rPr>
              <a:t>SP_SDFS</a:t>
            </a:r>
            <a:r>
              <a:rPr lang="he-IL" dirty="0">
                <a:sym typeface="Wingdings" panose="05000000000000000000" pitchFamily="2" charset="2"/>
              </a:rPr>
              <a:t> הוחלף בביט נוסף לתקשורת.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0872C4-011A-4FF5-9D1C-22A629552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6" y="520595"/>
            <a:ext cx="6201640" cy="3572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576EBF-0200-4865-8C16-62B0B4A501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9" t="36105" r="11832" b="32120"/>
          <a:stretch/>
        </p:blipFill>
        <p:spPr>
          <a:xfrm>
            <a:off x="258781" y="4332643"/>
            <a:ext cx="6634845" cy="1672382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41D1299E-5084-4322-A78E-C5571C9429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0791649"/>
                  </p:ext>
                </p:extLst>
              </p:nvPr>
            </p:nvGraphicFramePr>
            <p:xfrm>
              <a:off x="10343408" y="5691992"/>
              <a:ext cx="1489467" cy="837826"/>
            </p:xfrm>
            <a:graphic>
              <a:graphicData uri="http://schemas.microsoft.com/office/powerpoint/2016/slidezoom">
                <pslz:sldZm>
                  <pslz:sldZmObj sldId="269" cId="426812113">
                    <pslz:zmPr id="{B7BCA84B-A7DF-47CD-84E4-7E71054E130C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89467" cy="83782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41D1299E-5084-4322-A78E-C5571C9429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43408" y="5691992"/>
                <a:ext cx="1489467" cy="83782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949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792C36-6827-44B9-837A-07AD779B82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ניתוק אדמה מ-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he-IL" dirty="0"/>
                  <a:t>: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F792C36-6827-44B9-837A-07AD779B82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2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5F9A-F283-41A6-89D3-6B5986C3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939"/>
            <a:ext cx="10515600" cy="4351338"/>
          </a:xfrm>
        </p:spPr>
        <p:txBody>
          <a:bodyPr/>
          <a:lstStyle/>
          <a:p>
            <a:pPr algn="r" rtl="1"/>
            <a:r>
              <a:rPr lang="he-IL" dirty="0"/>
              <a:t>לפני: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איך היה אמור להיראות לפי הסכמה של הכרטיס: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תוקן גם </a:t>
            </a:r>
            <a:r>
              <a:rPr lang="he-IL" dirty="0" err="1"/>
              <a:t>בג'אמפר</a:t>
            </a:r>
            <a:r>
              <a:rPr lang="he-IL" dirty="0"/>
              <a:t> </a:t>
            </a:r>
            <a:r>
              <a:rPr lang="en-US" dirty="0"/>
              <a:t>J1</a:t>
            </a:r>
            <a:endParaRPr lang="he-IL" dirty="0"/>
          </a:p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45FDC-EAB2-45C8-AC34-8256175FE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674" y="2308153"/>
            <a:ext cx="7478169" cy="733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EB3CBD-21F1-4E93-A752-2C3E1C5A3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570" y="4066608"/>
            <a:ext cx="5020376" cy="84784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0D882AD5-AEEB-46DA-A82F-42A837A0F9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2351406"/>
                  </p:ext>
                </p:extLst>
              </p:nvPr>
            </p:nvGraphicFramePr>
            <p:xfrm>
              <a:off x="10063422" y="5600360"/>
              <a:ext cx="1882900" cy="1059131"/>
            </p:xfrm>
            <a:graphic>
              <a:graphicData uri="http://schemas.microsoft.com/office/powerpoint/2016/slidezoom">
                <pslz:sldZm>
                  <pslz:sldZmObj sldId="269" cId="426812113">
                    <pslz:zmPr id="{01AC19AC-6AAE-49EB-A548-858656D7298F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82900" cy="105913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0D882AD5-AEEB-46DA-A82F-42A837A0F9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63422" y="5600360"/>
                <a:ext cx="1882900" cy="105913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274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מחיקות שהתבצעו: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5F9A-F283-41A6-89D3-6B5986C3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EF34E-8F6E-4F85-841A-6338B45D3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643" y="1825625"/>
            <a:ext cx="5478337" cy="446661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D2444D-614C-4607-9CFD-FECBEE52C7E3}"/>
              </a:ext>
            </a:extLst>
          </p:cNvPr>
          <p:cNvSpPr/>
          <p:nvPr/>
        </p:nvSpPr>
        <p:spPr>
          <a:xfrm>
            <a:off x="4714504" y="4667003"/>
            <a:ext cx="682831" cy="255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C9EEDE-6ED4-4D75-A77A-34FC40A0FDA7}"/>
              </a:ext>
            </a:extLst>
          </p:cNvPr>
          <p:cNvSpPr/>
          <p:nvPr/>
        </p:nvSpPr>
        <p:spPr>
          <a:xfrm>
            <a:off x="3135086" y="3301339"/>
            <a:ext cx="609599" cy="13656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041941-9CA4-4092-BE86-F572D3D8BDAC}"/>
              </a:ext>
            </a:extLst>
          </p:cNvPr>
          <p:cNvSpPr/>
          <p:nvPr/>
        </p:nvSpPr>
        <p:spPr>
          <a:xfrm>
            <a:off x="4756068" y="5765470"/>
            <a:ext cx="346361" cy="4114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0293A5-9E8B-4FB0-BB4D-DC32980B9614}"/>
              </a:ext>
            </a:extLst>
          </p:cNvPr>
          <p:cNvSpPr/>
          <p:nvPr/>
        </p:nvSpPr>
        <p:spPr>
          <a:xfrm>
            <a:off x="6784773" y="5765470"/>
            <a:ext cx="429487" cy="20574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6A6015-2087-42D5-900C-EBAE2730FE85}"/>
              </a:ext>
            </a:extLst>
          </p:cNvPr>
          <p:cNvSpPr/>
          <p:nvPr/>
        </p:nvSpPr>
        <p:spPr>
          <a:xfrm>
            <a:off x="838200" y="4720442"/>
            <a:ext cx="1074717" cy="7243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הוחלפו בביטים מה-</a:t>
            </a:r>
            <a:r>
              <a:rPr lang="en-US" dirty="0"/>
              <a:t>ADC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47806F-E40C-468F-B5CB-C39FDF9744F1}"/>
              </a:ext>
            </a:extLst>
          </p:cNvPr>
          <p:cNvCxnSpPr/>
          <p:nvPr/>
        </p:nvCxnSpPr>
        <p:spPr>
          <a:xfrm flipV="1">
            <a:off x="1883375" y="3984170"/>
            <a:ext cx="1251711" cy="1110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9CDB77-C6A2-406E-A7D1-CE29BD136F0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1912917" y="5082640"/>
            <a:ext cx="2843151" cy="888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6506F4-20EC-48B9-9414-E30FBF775C4F}"/>
              </a:ext>
            </a:extLst>
          </p:cNvPr>
          <p:cNvCxnSpPr>
            <a:cxnSpLocks/>
          </p:cNvCxnSpPr>
          <p:nvPr/>
        </p:nvCxnSpPr>
        <p:spPr>
          <a:xfrm>
            <a:off x="1786248" y="5051917"/>
            <a:ext cx="4998525" cy="853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9B9458-BEDF-42F3-984D-438A98767BEC}"/>
              </a:ext>
            </a:extLst>
          </p:cNvPr>
          <p:cNvSpPr/>
          <p:nvPr/>
        </p:nvSpPr>
        <p:spPr>
          <a:xfrm>
            <a:off x="6658100" y="3803611"/>
            <a:ext cx="682831" cy="2553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80D3E3-65CA-4AA6-BFF4-165F85E33081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1912917" y="3931271"/>
            <a:ext cx="4745183" cy="115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Slide Zoom 21">
                <a:extLst>
                  <a:ext uri="{FF2B5EF4-FFF2-40B4-BE49-F238E27FC236}">
                    <a16:creationId xmlns:a16="http://schemas.microsoft.com/office/drawing/2014/main" id="{EEEAECA8-985B-4A28-8F21-F500E2EACA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8872432"/>
                  </p:ext>
                </p:extLst>
              </p:nvPr>
            </p:nvGraphicFramePr>
            <p:xfrm>
              <a:off x="10533055" y="5848596"/>
              <a:ext cx="1421495" cy="799591"/>
            </p:xfrm>
            <a:graphic>
              <a:graphicData uri="http://schemas.microsoft.com/office/powerpoint/2016/slidezoom">
                <pslz:sldZm>
                  <pslz:sldZmObj sldId="269" cId="426812113">
                    <pslz:zmPr id="{EABCCE0E-5671-4CF5-A163-D05ABDD3DD4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21495" cy="79959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Slide Zoom 21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EEAECA8-985B-4A28-8F21-F500E2EACA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33055" y="5848596"/>
                <a:ext cx="1421495" cy="79959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497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ביטים הפוכים</a:t>
            </a:r>
            <a:r>
              <a:rPr lang="en-US" dirty="0"/>
              <a:t> J2 </a:t>
            </a:r>
            <a:r>
              <a:rPr lang="he-IL" dirty="0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CF27E1-9DC1-4854-A2CD-3F22A3438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533" y="1806891"/>
            <a:ext cx="4957948" cy="438880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1A5FEF-B754-4D8B-8236-3675332BE536}"/>
              </a:ext>
            </a:extLst>
          </p:cNvPr>
          <p:cNvSpPr/>
          <p:nvPr/>
        </p:nvSpPr>
        <p:spPr>
          <a:xfrm>
            <a:off x="4957948" y="2481942"/>
            <a:ext cx="651163" cy="73033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FAEBBA-F6BB-415C-AED2-246602137D3C}"/>
              </a:ext>
            </a:extLst>
          </p:cNvPr>
          <p:cNvSpPr/>
          <p:nvPr/>
        </p:nvSpPr>
        <p:spPr>
          <a:xfrm>
            <a:off x="3564577" y="3156856"/>
            <a:ext cx="651163" cy="12607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B06E4F-F3C9-46F8-9BD3-930C17D1E7AB}"/>
              </a:ext>
            </a:extLst>
          </p:cNvPr>
          <p:cNvSpPr/>
          <p:nvPr/>
        </p:nvSpPr>
        <p:spPr>
          <a:xfrm>
            <a:off x="5029201" y="4635334"/>
            <a:ext cx="744186" cy="113607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4AB4F9-01F8-4966-B11F-D6212DCC926D}"/>
              </a:ext>
            </a:extLst>
          </p:cNvPr>
          <p:cNvSpPr/>
          <p:nvPr/>
        </p:nvSpPr>
        <p:spPr>
          <a:xfrm>
            <a:off x="6860968" y="2755075"/>
            <a:ext cx="651163" cy="9064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3E6305-FB7E-4340-AEB0-7BA73D838139}"/>
              </a:ext>
            </a:extLst>
          </p:cNvPr>
          <p:cNvSpPr/>
          <p:nvPr/>
        </p:nvSpPr>
        <p:spPr>
          <a:xfrm>
            <a:off x="6638307" y="3885209"/>
            <a:ext cx="946068" cy="223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AD3006-3940-432F-98C7-A1E2AE76B858}"/>
              </a:ext>
            </a:extLst>
          </p:cNvPr>
          <p:cNvSpPr/>
          <p:nvPr/>
        </p:nvSpPr>
        <p:spPr>
          <a:xfrm>
            <a:off x="6784769" y="4206545"/>
            <a:ext cx="946068" cy="11848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A62D5CA9-1BED-4398-903B-BE01254C2C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4368224"/>
                  </p:ext>
                </p:extLst>
              </p:nvPr>
            </p:nvGraphicFramePr>
            <p:xfrm>
              <a:off x="10154478" y="5569526"/>
              <a:ext cx="1851230" cy="1041317"/>
            </p:xfrm>
            <a:graphic>
              <a:graphicData uri="http://schemas.microsoft.com/office/powerpoint/2016/slidezoom">
                <pslz:sldZm>
                  <pslz:sldZmObj sldId="269" cId="426812113">
                    <pslz:zmPr id="{3282375B-472F-4C5E-8226-4715DDE93024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51230" cy="104131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62D5CA9-1BED-4398-903B-BE01254C2C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54478" y="5569526"/>
                <a:ext cx="1851230" cy="104131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574FC7-A60D-41A9-BAF4-B34B422DDC59}"/>
              </a:ext>
            </a:extLst>
          </p:cNvPr>
          <p:cNvSpPr/>
          <p:nvPr/>
        </p:nvSpPr>
        <p:spPr>
          <a:xfrm>
            <a:off x="5952507" y="1431354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Fix4</a:t>
            </a:r>
          </a:p>
        </p:txBody>
      </p:sp>
    </p:spTree>
    <p:extLst>
      <p:ext uri="{BB962C8B-B14F-4D97-AF65-F5344CB8AC3E}">
        <p14:creationId xmlns:p14="http://schemas.microsoft.com/office/powerpoint/2010/main" val="4031183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16D91-FCC8-4ACA-959B-EF3F96C2D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934" y="1450275"/>
            <a:ext cx="5744408" cy="480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3200" dirty="0" err="1">
                <a:latin typeface="Arial" panose="020B0604020202020204" pitchFamily="34" charset="0"/>
                <a:cs typeface="Arial" panose="020B0604020202020204" pitchFamily="34" charset="0"/>
              </a:rPr>
              <a:t>ג'אמפר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1 החדש (מחובר ל-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DAC2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 ולחלק מה-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ADC</a:t>
            </a:r>
            <a:r>
              <a:rPr lang="he-IL" sz="3200" dirty="0">
                <a:latin typeface="Arial" panose="020B0604020202020204" pitchFamily="34" charset="0"/>
                <a:cs typeface="Arial" panose="020B0604020202020204" pitchFamily="34" charset="0"/>
              </a:rPr>
              <a:t> החדש):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FB01B8-D6E9-410A-8A34-C8A51BF29CA3}"/>
              </a:ext>
            </a:extLst>
          </p:cNvPr>
          <p:cNvSpPr/>
          <p:nvPr/>
        </p:nvSpPr>
        <p:spPr>
          <a:xfrm>
            <a:off x="5492338" y="3526971"/>
            <a:ext cx="1615043" cy="2137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511150-390F-4332-974C-440B576FB46F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107381" y="3176649"/>
            <a:ext cx="2054393" cy="451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492F81-A376-460E-9FD0-3014136AB0B1}"/>
              </a:ext>
            </a:extLst>
          </p:cNvPr>
          <p:cNvSpPr/>
          <p:nvPr/>
        </p:nvSpPr>
        <p:spPr>
          <a:xfrm>
            <a:off x="9161774" y="2924298"/>
            <a:ext cx="1460665" cy="5047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שינוי מיקום </a:t>
            </a:r>
            <a:r>
              <a:rPr lang="en-US" dirty="0"/>
              <a:t>FPGA_CLK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891C38-0831-44FC-BBEB-9D9FD24C7347}"/>
              </a:ext>
            </a:extLst>
          </p:cNvPr>
          <p:cNvSpPr/>
          <p:nvPr/>
        </p:nvSpPr>
        <p:spPr>
          <a:xfrm>
            <a:off x="4102925" y="4763099"/>
            <a:ext cx="1389413" cy="2137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DF781C-BA12-4109-BA7E-46A3900851A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661727" y="4858163"/>
            <a:ext cx="1441198" cy="11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4" name="Slide Zoom 23">
                <a:extLst>
                  <a:ext uri="{FF2B5EF4-FFF2-40B4-BE49-F238E27FC236}">
                    <a16:creationId xmlns:a16="http://schemas.microsoft.com/office/drawing/2014/main" id="{634B18E0-5F99-476C-B992-416AAEFA1B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10987" y="4602181"/>
              <a:ext cx="1349503" cy="759095"/>
            </p:xfrm>
            <a:graphic>
              <a:graphicData uri="http://schemas.microsoft.com/office/powerpoint/2016/slidezoom">
                <pslz:sldZm>
                  <pslz:sldZmObj sldId="258" cId="971274381">
                    <pslz:zmPr id="{A32822F2-B6FC-432C-A7C0-F8718A204C54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9503" cy="75909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4" name="Slide Zoom 2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34B18E0-5F99-476C-B992-416AAEFA1B1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0987" y="4602181"/>
                <a:ext cx="1349503" cy="75909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59C2955D-A579-4001-B0BE-8AD5A219CD9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0798559"/>
                  </p:ext>
                </p:extLst>
              </p:nvPr>
            </p:nvGraphicFramePr>
            <p:xfrm>
              <a:off x="9195420" y="3458689"/>
              <a:ext cx="1393373" cy="783772"/>
            </p:xfrm>
            <a:graphic>
              <a:graphicData uri="http://schemas.microsoft.com/office/powerpoint/2016/slidezoom">
                <pslz:sldZm>
                  <pslz:sldZmObj sldId="273" cId="2141890527">
                    <pslz:zmPr id="{3E3AB139-84A3-4AEB-8EB3-475AF6CDD409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93373" cy="7837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59C2955D-A579-4001-B0BE-8AD5A219CD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95420" y="3458689"/>
                <a:ext cx="1393373" cy="7837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EB160B-DBF5-4CF9-A944-D6093B9DE176}"/>
              </a:ext>
            </a:extLst>
          </p:cNvPr>
          <p:cNvSpPr/>
          <p:nvPr/>
        </p:nvSpPr>
        <p:spPr>
          <a:xfrm>
            <a:off x="9656205" y="2519072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BE704A-8CFE-41BA-8A5C-A6C2A2DF1A24}"/>
              </a:ext>
            </a:extLst>
          </p:cNvPr>
          <p:cNvSpPr/>
          <p:nvPr/>
        </p:nvSpPr>
        <p:spPr>
          <a:xfrm>
            <a:off x="2168073" y="5456340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B84690-3A1A-48BA-B133-D04314BCF540}"/>
              </a:ext>
            </a:extLst>
          </p:cNvPr>
          <p:cNvSpPr/>
          <p:nvPr/>
        </p:nvSpPr>
        <p:spPr>
          <a:xfrm>
            <a:off x="1810987" y="3795917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Fix7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5F3739D2-775B-482C-B562-D29F34D630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3312767"/>
                  </p:ext>
                </p:extLst>
              </p:nvPr>
            </p:nvGraphicFramePr>
            <p:xfrm>
              <a:off x="1319838" y="2809713"/>
              <a:ext cx="1711570" cy="962758"/>
            </p:xfrm>
            <a:graphic>
              <a:graphicData uri="http://schemas.microsoft.com/office/powerpoint/2016/slidezoom">
                <pslz:sldZm>
                  <pslz:sldZmObj sldId="274" cId="1468150769">
                    <pslz:zmPr id="{5DAEB0CB-0C8C-4B57-9172-B8C62E2AD06B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1570" cy="9627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5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5F3739D2-775B-482C-B562-D29F34D630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19838" y="2809713"/>
                <a:ext cx="1711570" cy="9627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43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96CC-1D30-49F3-B5E3-455B8B55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חיבור שעון: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04E63-C424-4B5D-BBF5-800E2B899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dirty="0"/>
              <a:t>כניסת </a:t>
            </a:r>
            <a:r>
              <a:rPr lang="en-US" dirty="0"/>
              <a:t>FPGA_CLK_P/N</a:t>
            </a:r>
            <a:r>
              <a:rPr lang="he-IL" dirty="0"/>
              <a:t> צריכה להיות מרגליים שהן </a:t>
            </a:r>
            <a:r>
              <a:rPr lang="en-US" dirty="0"/>
              <a:t>clock capable</a:t>
            </a:r>
            <a:r>
              <a:rPr lang="he-IL" dirty="0"/>
              <a:t> (</a:t>
            </a:r>
            <a:r>
              <a:rPr lang="en-US" dirty="0"/>
              <a:t>MRCC </a:t>
            </a:r>
            <a:r>
              <a:rPr lang="he-IL" dirty="0"/>
              <a:t>או </a:t>
            </a:r>
            <a:r>
              <a:rPr lang="en-US" dirty="0"/>
              <a:t>SRCC</a:t>
            </a:r>
            <a:r>
              <a:rPr lang="he-IL" dirty="0"/>
              <a:t>). ניתן להחליף עם קו דיפרנציאלי </a:t>
            </a:r>
            <a:r>
              <a:rPr lang="en-US" dirty="0"/>
              <a:t>PARITY_P/N</a:t>
            </a:r>
            <a:r>
              <a:rPr lang="he-IL" dirty="0"/>
              <a:t> של ה-</a:t>
            </a:r>
            <a:r>
              <a:rPr lang="en-US" dirty="0"/>
              <a:t>DAC</a:t>
            </a:r>
            <a:r>
              <a:rPr lang="he-IL" dirty="0"/>
              <a:t> שאינו בשימוש בכלל. מיקומים חדשים:</a:t>
            </a:r>
            <a:br>
              <a:rPr lang="en-US" dirty="0"/>
            </a:br>
            <a:r>
              <a:rPr lang="en-US" dirty="0"/>
              <a:t>FPGA_CLK_P</a:t>
            </a:r>
            <a:r>
              <a:rPr lang="en-US" dirty="0">
                <a:sym typeface="Wingdings" panose="05000000000000000000" pitchFamily="2" charset="2"/>
              </a:rPr>
              <a:t> J1_48JX1_LVDS_13_P</a:t>
            </a:r>
            <a:r>
              <a:rPr lang="en-US" dirty="0"/>
              <a:t> N20</a:t>
            </a:r>
            <a:br>
              <a:rPr lang="en-US" dirty="0"/>
            </a:br>
            <a:r>
              <a:rPr lang="en-US" dirty="0"/>
              <a:t>FPGA_CLK_N</a:t>
            </a:r>
            <a:r>
              <a:rPr lang="en-US" dirty="0">
                <a:sym typeface="Wingdings" panose="05000000000000000000" pitchFamily="2" charset="2"/>
              </a:rPr>
              <a:t> J1_50JX1_LVDS_13_N</a:t>
            </a:r>
            <a:r>
              <a:rPr lang="en-US" dirty="0"/>
              <a:t> P20</a:t>
            </a:r>
          </a:p>
          <a:p>
            <a:pPr marL="0" indent="0" algn="r" rtl="1">
              <a:buNone/>
            </a:pPr>
            <a:r>
              <a:rPr lang="en-US" dirty="0"/>
              <a:t>PARITY_P </a:t>
            </a:r>
            <a:r>
              <a:rPr lang="en-US" dirty="0">
                <a:sym typeface="Wingdings" panose="05000000000000000000" pitchFamily="2" charset="2"/>
              </a:rPr>
              <a:t>J1_30JX1_LVDS_7_P </a:t>
            </a:r>
            <a:r>
              <a:rPr lang="en-US" dirty="0"/>
              <a:t> W14</a:t>
            </a:r>
            <a:br>
              <a:rPr lang="en-US" dirty="0"/>
            </a:br>
            <a:r>
              <a:rPr lang="en-US" dirty="0"/>
              <a:t>PARITY_N</a:t>
            </a:r>
            <a:r>
              <a:rPr lang="en-US" dirty="0">
                <a:sym typeface="Wingdings" panose="05000000000000000000" pitchFamily="2" charset="2"/>
              </a:rPr>
              <a:t> J1_32JX1_LVDS_7_N</a:t>
            </a:r>
            <a:r>
              <a:rPr lang="en-US" dirty="0"/>
              <a:t> Y14</a:t>
            </a:r>
          </a:p>
          <a:p>
            <a:pPr marL="0" indent="0" algn="r" rtl="1">
              <a:buNone/>
            </a:pPr>
            <a:r>
              <a:rPr lang="he-IL" dirty="0"/>
              <a:t>לאחר התיקון </a:t>
            </a:r>
            <a:r>
              <a:rPr lang="he-IL" dirty="0" err="1"/>
              <a:t>בבורד</a:t>
            </a:r>
            <a:r>
              <a:rPr lang="he-IL" dirty="0"/>
              <a:t>- החלפה של הרגליים גם ב-</a:t>
            </a:r>
            <a:r>
              <a:rPr lang="en-US" dirty="0"/>
              <a:t>.</a:t>
            </a:r>
            <a:r>
              <a:rPr lang="en-US" dirty="0" err="1"/>
              <a:t>xdc</a:t>
            </a:r>
            <a:r>
              <a:rPr lang="he-IL" dirty="0"/>
              <a:t> ומחיקה </a:t>
            </a:r>
            <a:br>
              <a:rPr lang="en-US" dirty="0"/>
            </a:br>
            <a:r>
              <a:rPr lang="he-IL" dirty="0"/>
              <a:t>של השורה של ה-</a:t>
            </a:r>
            <a:r>
              <a:rPr lang="en-US" dirty="0"/>
              <a:t>clock dedicated route false</a:t>
            </a:r>
            <a:r>
              <a:rPr lang="he-IL" dirty="0"/>
              <a:t>. </a:t>
            </a:r>
            <a:br>
              <a:rPr lang="en-US" dirty="0"/>
            </a:br>
            <a:r>
              <a:rPr lang="he-IL" dirty="0"/>
              <a:t>התיקון הזה שם את ה-</a:t>
            </a:r>
            <a:r>
              <a:rPr lang="en-US" dirty="0"/>
              <a:t>MMCM</a:t>
            </a:r>
            <a:r>
              <a:rPr lang="he-IL" dirty="0"/>
              <a:t> באותו </a:t>
            </a:r>
            <a:r>
              <a:rPr lang="he-IL" dirty="0" err="1"/>
              <a:t>איזור</a:t>
            </a:r>
            <a:r>
              <a:rPr lang="he-IL" dirty="0"/>
              <a:t> של התכנון ולא זורק אותו לתחתית התכנון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5542A-5DAA-481C-894D-10BBC6CC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60" y="2618965"/>
            <a:ext cx="2781688" cy="190526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E4D043-E55B-4CDE-A39D-4BA798E98CDD}"/>
              </a:ext>
            </a:extLst>
          </p:cNvPr>
          <p:cNvSpPr/>
          <p:nvPr/>
        </p:nvSpPr>
        <p:spPr>
          <a:xfrm>
            <a:off x="1136567" y="3105397"/>
            <a:ext cx="1715984" cy="878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להחליף בין </a:t>
            </a:r>
            <a:r>
              <a:rPr lang="en-US" dirty="0"/>
              <a:t>FPGA</a:t>
            </a:r>
            <a:r>
              <a:rPr lang="he-IL" dirty="0"/>
              <a:t> </a:t>
            </a:r>
            <a:br>
              <a:rPr lang="en-US" dirty="0"/>
            </a:br>
            <a:r>
              <a:rPr lang="he-IL" dirty="0"/>
              <a:t>ל-</a:t>
            </a:r>
            <a:r>
              <a:rPr lang="en-US" dirty="0"/>
              <a:t>PARITY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E040A4-AC50-429F-A22F-43808438633B}"/>
              </a:ext>
            </a:extLst>
          </p:cNvPr>
          <p:cNvSpPr/>
          <p:nvPr/>
        </p:nvSpPr>
        <p:spPr>
          <a:xfrm>
            <a:off x="380010" y="312902"/>
            <a:ext cx="1058272" cy="7362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תוקן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AF0F3A-626C-4DD7-B18C-AEE22C2906A3}"/>
              </a:ext>
            </a:extLst>
          </p:cNvPr>
          <p:cNvSpPr/>
          <p:nvPr/>
        </p:nvSpPr>
        <p:spPr>
          <a:xfrm>
            <a:off x="3735037" y="3796403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Fix5</a:t>
            </a:r>
          </a:p>
        </p:txBody>
      </p:sp>
    </p:spTree>
    <p:extLst>
      <p:ext uri="{BB962C8B-B14F-4D97-AF65-F5344CB8AC3E}">
        <p14:creationId xmlns:p14="http://schemas.microsoft.com/office/powerpoint/2010/main" val="2141890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ביטים הפוכים</a:t>
            </a:r>
            <a:r>
              <a:rPr lang="en-US" dirty="0"/>
              <a:t> J1 </a:t>
            </a:r>
            <a:r>
              <a:rPr lang="he-IL" dirty="0"/>
              <a:t>: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6152B7-1C2C-4EBE-BEDE-B884BAEA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9729"/>
            <a:ext cx="4947232" cy="460762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B73A5A-AA78-49BF-97B9-3E7718618B94}"/>
              </a:ext>
            </a:extLst>
          </p:cNvPr>
          <p:cNvSpPr/>
          <p:nvPr/>
        </p:nvSpPr>
        <p:spPr>
          <a:xfrm>
            <a:off x="3123790" y="3054926"/>
            <a:ext cx="890649" cy="2137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ED35E6-08A5-4FB9-8BF6-434798F0B300}"/>
              </a:ext>
            </a:extLst>
          </p:cNvPr>
          <p:cNvSpPr/>
          <p:nvPr/>
        </p:nvSpPr>
        <p:spPr>
          <a:xfrm>
            <a:off x="4172777" y="3268683"/>
            <a:ext cx="890649" cy="2137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16B7F2-5102-439C-A9E9-BA56B20315D6}"/>
              </a:ext>
            </a:extLst>
          </p:cNvPr>
          <p:cNvSpPr/>
          <p:nvPr/>
        </p:nvSpPr>
        <p:spPr>
          <a:xfrm>
            <a:off x="3123790" y="3746663"/>
            <a:ext cx="890649" cy="2137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64415-761D-4466-826F-EE739FAA6568}"/>
              </a:ext>
            </a:extLst>
          </p:cNvPr>
          <p:cNvSpPr txBox="1"/>
          <p:nvPr/>
        </p:nvSpPr>
        <p:spPr>
          <a:xfrm>
            <a:off x="7018317" y="1879521"/>
            <a:ext cx="4335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רוב הביטים שהיו הפוכים הוחלפו בביטים של  </a:t>
            </a:r>
            <a:r>
              <a:rPr lang="en-US" dirty="0"/>
              <a:t>ADC</a:t>
            </a:r>
            <a:r>
              <a:rPr lang="he-IL" dirty="0"/>
              <a:t> החדש. </a:t>
            </a:r>
            <a:r>
              <a:rPr lang="en-US" dirty="0"/>
              <a:t>DAC2</a:t>
            </a:r>
            <a:r>
              <a:rPr lang="he-IL" dirty="0"/>
              <a:t> היה תקין מבחינת כיווניות הביטים.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8FCDD7-2F6B-4651-AFF9-BAF72C665531}"/>
              </a:ext>
            </a:extLst>
          </p:cNvPr>
          <p:cNvSpPr/>
          <p:nvPr/>
        </p:nvSpPr>
        <p:spPr>
          <a:xfrm>
            <a:off x="1223159" y="5460668"/>
            <a:ext cx="2533982" cy="2137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206BCB-40F3-4BEB-ACD1-7A5DAEE3B267}"/>
              </a:ext>
            </a:extLst>
          </p:cNvPr>
          <p:cNvSpPr/>
          <p:nvPr/>
        </p:nvSpPr>
        <p:spPr>
          <a:xfrm>
            <a:off x="4745761" y="4167392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Fix7</a:t>
            </a:r>
          </a:p>
        </p:txBody>
      </p:sp>
    </p:spTree>
    <p:extLst>
      <p:ext uri="{BB962C8B-B14F-4D97-AF65-F5344CB8AC3E}">
        <p14:creationId xmlns:p14="http://schemas.microsoft.com/office/powerpoint/2010/main" val="146815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F6E7-87E1-4B24-9D4D-F643CC47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dirty="0"/>
              <a:t>DAC1</a:t>
            </a:r>
            <a:r>
              <a:rPr lang="he-IL" dirty="0"/>
              <a:t> מתוקן: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AC18C6-8B51-439C-B4BD-07CFE9201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660" y="1825625"/>
            <a:ext cx="8144680" cy="435133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DD006C-1C79-446F-9D39-C1273F8D102E}"/>
              </a:ext>
            </a:extLst>
          </p:cNvPr>
          <p:cNvSpPr/>
          <p:nvPr/>
        </p:nvSpPr>
        <p:spPr>
          <a:xfrm>
            <a:off x="2155372" y="5269675"/>
            <a:ext cx="3240564" cy="2582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19CE2D-8A07-4DAB-A85D-8F5FE1221A1B}"/>
              </a:ext>
            </a:extLst>
          </p:cNvPr>
          <p:cNvSpPr/>
          <p:nvPr/>
        </p:nvSpPr>
        <p:spPr>
          <a:xfrm>
            <a:off x="62294" y="4755613"/>
            <a:ext cx="2075035" cy="878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קו </a:t>
            </a:r>
            <a:r>
              <a:rPr lang="en-US" dirty="0"/>
              <a:t>Parity</a:t>
            </a:r>
            <a:r>
              <a:rPr lang="he-IL" dirty="0"/>
              <a:t> ו-</a:t>
            </a:r>
            <a:r>
              <a:rPr lang="en-US" dirty="0"/>
              <a:t>FRAME</a:t>
            </a:r>
            <a:r>
              <a:rPr lang="he-IL" dirty="0"/>
              <a:t> בוטלו ומחוברים לאדמה.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063F2E-7547-4059-992F-654BBE0A4991}"/>
              </a:ext>
            </a:extLst>
          </p:cNvPr>
          <p:cNvSpPr/>
          <p:nvPr/>
        </p:nvSpPr>
        <p:spPr>
          <a:xfrm>
            <a:off x="5395936" y="1984243"/>
            <a:ext cx="1794573" cy="116268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6AB9DB-1535-469D-8AC5-F1F0092B6396}"/>
              </a:ext>
            </a:extLst>
          </p:cNvPr>
          <p:cNvSpPr/>
          <p:nvPr/>
        </p:nvSpPr>
        <p:spPr>
          <a:xfrm>
            <a:off x="10353087" y="1490354"/>
            <a:ext cx="1715984" cy="1454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סודרה קוטביות של המוצאים </a:t>
            </a:r>
            <a:r>
              <a:rPr lang="en-US" dirty="0"/>
              <a:t>A</a:t>
            </a:r>
            <a:r>
              <a:rPr lang="he-IL" dirty="0"/>
              <a:t> ו-</a:t>
            </a:r>
            <a:r>
              <a:rPr lang="en-US" dirty="0"/>
              <a:t>C</a:t>
            </a:r>
            <a:r>
              <a:rPr lang="he-IL" dirty="0"/>
              <a:t>.</a:t>
            </a:r>
            <a:br>
              <a:rPr lang="en-US" dirty="0"/>
            </a:br>
            <a:r>
              <a:rPr lang="he-IL" dirty="0"/>
              <a:t>צריך לתקן ב-</a:t>
            </a:r>
            <a:r>
              <a:rPr lang="en-US" dirty="0" err="1"/>
              <a:t>vitis</a:t>
            </a:r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413DCB88-2DB4-439A-BC8D-5F860BCFBB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8723728"/>
                  </p:ext>
                </p:extLst>
              </p:nvPr>
            </p:nvGraphicFramePr>
            <p:xfrm>
              <a:off x="10454134" y="3003218"/>
              <a:ext cx="1513890" cy="851563"/>
            </p:xfrm>
            <a:graphic>
              <a:graphicData uri="http://schemas.microsoft.com/office/powerpoint/2016/slidezoom">
                <pslz:sldZm>
                  <pslz:sldZmObj sldId="278" cId="1512921070">
                    <pslz:zmPr id="{168EB063-26B6-4E6C-A74B-3C71E8162076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13890" cy="8515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13DCB88-2DB4-439A-BC8D-5F860BCFBB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54134" y="3003218"/>
                <a:ext cx="1513890" cy="85156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6C833D-B395-4F02-BA7C-3AF1278DAB12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7190509" y="2217718"/>
            <a:ext cx="3162578" cy="347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835084-E29F-4C4F-A46D-5D04292203C1}"/>
              </a:ext>
            </a:extLst>
          </p:cNvPr>
          <p:cNvSpPr/>
          <p:nvPr/>
        </p:nvSpPr>
        <p:spPr>
          <a:xfrm>
            <a:off x="2404752" y="4391488"/>
            <a:ext cx="2859471" cy="4002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4D39FADC-71EE-4750-914B-3D1080F62A2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1887326"/>
                  </p:ext>
                </p:extLst>
              </p:nvPr>
            </p:nvGraphicFramePr>
            <p:xfrm>
              <a:off x="291190" y="3786300"/>
              <a:ext cx="1617244" cy="909700"/>
            </p:xfrm>
            <a:graphic>
              <a:graphicData uri="http://schemas.microsoft.com/office/powerpoint/2016/slidezoom">
                <pslz:sldZm>
                  <pslz:sldZmObj sldId="281" cId="2145011624">
                    <pslz:zmPr id="{F110DEDF-226C-4B9E-A594-475AE9FB888C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17244" cy="9097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4D39FADC-71EE-4750-914B-3D1080F62A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190" y="3786300"/>
                <a:ext cx="1617244" cy="9097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FFB8C2-B7B8-4424-AA60-649ED4DE3E08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908434" y="4241150"/>
            <a:ext cx="496318" cy="37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1A119B-3490-4E15-8F90-DDA58A2439C3}"/>
              </a:ext>
            </a:extLst>
          </p:cNvPr>
          <p:cNvSpPr/>
          <p:nvPr/>
        </p:nvSpPr>
        <p:spPr>
          <a:xfrm>
            <a:off x="6260301" y="1502919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FF5F08-CE77-474F-BCE0-43DD07A362CF}"/>
              </a:ext>
            </a:extLst>
          </p:cNvPr>
          <p:cNvSpPr/>
          <p:nvPr/>
        </p:nvSpPr>
        <p:spPr>
          <a:xfrm>
            <a:off x="1837707" y="3960131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1126AE-C511-42AE-BCC1-351C1DE0A2A2}"/>
              </a:ext>
            </a:extLst>
          </p:cNvPr>
          <p:cNvSpPr/>
          <p:nvPr/>
        </p:nvSpPr>
        <p:spPr>
          <a:xfrm>
            <a:off x="1842115" y="5989194"/>
            <a:ext cx="777260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60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5AAE-B579-47AB-8AB3-5EF442D7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dirty="0"/>
              <a:t>DAC1</a:t>
            </a:r>
            <a:r>
              <a:rPr lang="he-IL" dirty="0"/>
              <a:t> תיקון מוצאים הפוכים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AC326-8DC2-433E-91E5-757CDAEC6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להחליף בין </a:t>
            </a:r>
            <a:r>
              <a:rPr lang="he-IL" dirty="0" err="1"/>
              <a:t>הנטים</a:t>
            </a:r>
            <a:r>
              <a:rPr lang="he-IL" dirty="0"/>
              <a:t> של ערוץ </a:t>
            </a:r>
            <a:r>
              <a:rPr lang="en-US" dirty="0"/>
              <a:t>A</a:t>
            </a:r>
            <a:r>
              <a:rPr lang="he-IL" dirty="0"/>
              <a:t> ו-</a:t>
            </a:r>
            <a:r>
              <a:rPr lang="en-US" dirty="0"/>
              <a:t>C</a:t>
            </a:r>
            <a:r>
              <a:rPr lang="he-IL" dirty="0"/>
              <a:t> ב-</a:t>
            </a:r>
            <a:r>
              <a:rPr lang="en-US" dirty="0"/>
              <a:t>DAC1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לאחר מכן- לשנות את ההגדרה דרך ה-</a:t>
            </a:r>
            <a:r>
              <a:rPr lang="en-US" dirty="0" err="1"/>
              <a:t>vitis</a:t>
            </a:r>
            <a:r>
              <a:rPr lang="he-IL" dirty="0"/>
              <a:t>:</a:t>
            </a:r>
            <a:br>
              <a:rPr lang="en-US" dirty="0"/>
            </a:br>
            <a:r>
              <a:rPr lang="he-IL" dirty="0"/>
              <a:t>(בקובץ </a:t>
            </a:r>
            <a:r>
              <a:rPr lang="en-US" dirty="0" err="1"/>
              <a:t>dac.c</a:t>
            </a:r>
            <a:r>
              <a:rPr lang="he-IL" dirty="0"/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8D6A7-6F06-4EAE-8477-443F6AD732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00" y="1318161"/>
            <a:ext cx="3926840" cy="2360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EFE6D1-0042-414A-8A81-A202DC34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592" y="4132261"/>
            <a:ext cx="7440063" cy="159089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31F4CB-4671-45AB-BA86-36AFBADEFE48}"/>
              </a:ext>
            </a:extLst>
          </p:cNvPr>
          <p:cNvSpPr/>
          <p:nvPr/>
        </p:nvSpPr>
        <p:spPr>
          <a:xfrm>
            <a:off x="380010" y="312902"/>
            <a:ext cx="1058272" cy="7362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תוקן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35C233-8194-446A-BD76-D7C0B387092A}"/>
              </a:ext>
            </a:extLst>
          </p:cNvPr>
          <p:cNvSpPr/>
          <p:nvPr/>
        </p:nvSpPr>
        <p:spPr>
          <a:xfrm>
            <a:off x="2850351" y="1124650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Fix8</a:t>
            </a:r>
          </a:p>
        </p:txBody>
      </p:sp>
    </p:spTree>
    <p:extLst>
      <p:ext uri="{BB962C8B-B14F-4D97-AF65-F5344CB8AC3E}">
        <p14:creationId xmlns:p14="http://schemas.microsoft.com/office/powerpoint/2010/main" val="1512921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9174-EBF8-4CE0-8E4E-0937D92C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קווי </a:t>
            </a:r>
            <a:r>
              <a:rPr lang="en-US" dirty="0"/>
              <a:t>LVDS</a:t>
            </a:r>
            <a:r>
              <a:rPr lang="he-IL" dirty="0"/>
              <a:t> הפוכים ב-</a:t>
            </a:r>
            <a:r>
              <a:rPr lang="en-US" dirty="0"/>
              <a:t>DAC1</a:t>
            </a:r>
            <a:r>
              <a:rPr lang="he-IL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563ED-F38E-4B4A-80AA-F30265A0D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r" rtl="1"/>
            <a:r>
              <a:rPr lang="en-US" dirty="0"/>
              <a:t>D12-13</a:t>
            </a:r>
            <a:r>
              <a:rPr lang="he-IL" dirty="0"/>
              <a:t> קיבלו </a:t>
            </a:r>
            <a:r>
              <a:rPr lang="en-US" dirty="0"/>
              <a:t>Double negative</a:t>
            </a:r>
            <a:r>
              <a:rPr lang="he-IL" dirty="0"/>
              <a:t>. גם צריכים להיות מוחלפים שמית בכניסה ל-</a:t>
            </a:r>
            <a:r>
              <a:rPr lang="en-US" dirty="0"/>
              <a:t>DAC1</a:t>
            </a:r>
            <a:r>
              <a:rPr lang="he-IL" dirty="0"/>
              <a:t> וגם בכניסה </a:t>
            </a:r>
            <a:r>
              <a:rPr lang="he-IL" dirty="0" err="1"/>
              <a:t>לג'אמפר</a:t>
            </a:r>
            <a:r>
              <a:rPr lang="he-IL" dirty="0"/>
              <a:t>. </a:t>
            </a:r>
          </a:p>
          <a:p>
            <a:pPr algn="r" rtl="1"/>
            <a:r>
              <a:rPr lang="he-IL" dirty="0" err="1"/>
              <a:t>כככל</a:t>
            </a:r>
            <a:r>
              <a:rPr lang="he-IL" dirty="0"/>
              <a:t>- </a:t>
            </a:r>
            <a:r>
              <a:rPr lang="en-US" dirty="0"/>
              <a:t>P</a:t>
            </a:r>
            <a:r>
              <a:rPr lang="he-IL" dirty="0"/>
              <a:t> מעל </a:t>
            </a:r>
            <a:r>
              <a:rPr lang="en-US" dirty="0"/>
              <a:t>N</a:t>
            </a:r>
            <a:r>
              <a:rPr lang="he-IL" dirty="0"/>
              <a:t> בכל הזוגות (כלל תקף רק ל-</a:t>
            </a:r>
            <a:r>
              <a:rPr lang="en-US" dirty="0"/>
              <a:t>DAC</a:t>
            </a:r>
            <a:r>
              <a:rPr lang="he-IL" dirty="0"/>
              <a:t>).</a:t>
            </a:r>
          </a:p>
          <a:p>
            <a:pPr algn="r" rtl="1"/>
            <a:endParaRPr lang="he-IL" b="1" u="sng" dirty="0"/>
          </a:p>
          <a:p>
            <a:pPr algn="r" rtl="1"/>
            <a:r>
              <a:rPr lang="he-IL" dirty="0"/>
              <a:t>אותה החלפה ב-</a:t>
            </a:r>
            <a:r>
              <a:rPr lang="en-US" dirty="0"/>
              <a:t>DATACLK_DAC1</a:t>
            </a:r>
            <a:r>
              <a:rPr lang="he-IL" dirty="0"/>
              <a:t> ב-</a:t>
            </a:r>
            <a:r>
              <a:rPr lang="en-US" dirty="0"/>
              <a:t>J2</a:t>
            </a:r>
            <a:endParaRPr lang="he-IL" dirty="0"/>
          </a:p>
          <a:p>
            <a:pPr algn="r" rtl="1"/>
            <a:r>
              <a:rPr lang="he-IL" dirty="0"/>
              <a:t>לאחר התיקון- יש לתקן את הרכיבים הבאים: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E47489-E846-49DB-A976-9912C32CA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26" y="2303811"/>
            <a:ext cx="3015800" cy="89659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0A8A0C-CC43-4D11-99FB-922845A6E215}"/>
              </a:ext>
            </a:extLst>
          </p:cNvPr>
          <p:cNvSpPr/>
          <p:nvPr/>
        </p:nvSpPr>
        <p:spPr>
          <a:xfrm>
            <a:off x="583979" y="2519584"/>
            <a:ext cx="2934968" cy="4650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76DC49-BA8E-4540-94B9-B07B82625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80" y="3764529"/>
            <a:ext cx="2638793" cy="495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6F69CB-94E0-4AAE-951C-B41714F6B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960" y="5257637"/>
            <a:ext cx="4900427" cy="124088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EBE955-AD2E-44D5-8968-6555DA449151}"/>
              </a:ext>
            </a:extLst>
          </p:cNvPr>
          <p:cNvSpPr/>
          <p:nvPr/>
        </p:nvSpPr>
        <p:spPr>
          <a:xfrm>
            <a:off x="838200" y="5409210"/>
            <a:ext cx="2130631" cy="564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מכיל תיקון לביטים ההפוכים ב-</a:t>
            </a:r>
            <a:r>
              <a:rPr lang="en-US" dirty="0"/>
              <a:t>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2EA7CE-1888-4BB6-888D-99F1C3D11180}"/>
              </a:ext>
            </a:extLst>
          </p:cNvPr>
          <p:cNvCxnSpPr>
            <a:stCxn id="11" idx="3"/>
          </p:cNvCxnSpPr>
          <p:nvPr/>
        </p:nvCxnSpPr>
        <p:spPr>
          <a:xfrm>
            <a:off x="2968831" y="5691249"/>
            <a:ext cx="665018" cy="145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3938FD-7BBE-4F72-AA9E-A78B658E9C79}"/>
              </a:ext>
            </a:extLst>
          </p:cNvPr>
          <p:cNvSpPr/>
          <p:nvPr/>
        </p:nvSpPr>
        <p:spPr>
          <a:xfrm>
            <a:off x="8501743" y="5409210"/>
            <a:ext cx="2130631" cy="564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תיקון לשעון ההפוך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B59B5E-6748-4E39-9908-F704F0010ACA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5836722" y="5450774"/>
            <a:ext cx="2665021" cy="2404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C66913-C1B4-4210-AA5D-BD004587124D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903031" y="5691249"/>
            <a:ext cx="598712" cy="1524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981F8A-35E5-4876-946A-A98F83A58E9B}"/>
              </a:ext>
            </a:extLst>
          </p:cNvPr>
          <p:cNvSpPr/>
          <p:nvPr/>
        </p:nvSpPr>
        <p:spPr>
          <a:xfrm>
            <a:off x="380010" y="312902"/>
            <a:ext cx="1058272" cy="7362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תוקן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3E48AB1-EFFD-494E-B757-D84D750996F2}"/>
              </a:ext>
            </a:extLst>
          </p:cNvPr>
          <p:cNvSpPr/>
          <p:nvPr/>
        </p:nvSpPr>
        <p:spPr>
          <a:xfrm>
            <a:off x="3594000" y="2287608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9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D717C1-4035-442C-B04C-DA46F113CB24}"/>
              </a:ext>
            </a:extLst>
          </p:cNvPr>
          <p:cNvSpPr/>
          <p:nvPr/>
        </p:nvSpPr>
        <p:spPr>
          <a:xfrm>
            <a:off x="3925568" y="3865435"/>
            <a:ext cx="63532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011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24DE92-4F27-4000-9501-1C5AC80B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979" y="1398666"/>
            <a:ext cx="7615913" cy="4538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F5F6E7-87E1-4B24-9D4D-F643CC47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dirty="0"/>
              <a:t>DAC2</a:t>
            </a:r>
            <a:r>
              <a:rPr lang="he-IL" dirty="0"/>
              <a:t> מתוקן: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DD006C-1C79-446F-9D39-C1273F8D102E}"/>
              </a:ext>
            </a:extLst>
          </p:cNvPr>
          <p:cNvSpPr/>
          <p:nvPr/>
        </p:nvSpPr>
        <p:spPr>
          <a:xfrm>
            <a:off x="1957804" y="4732316"/>
            <a:ext cx="3240564" cy="2582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19CE2D-8A07-4DAB-A85D-8F5FE1221A1B}"/>
              </a:ext>
            </a:extLst>
          </p:cNvPr>
          <p:cNvSpPr/>
          <p:nvPr/>
        </p:nvSpPr>
        <p:spPr>
          <a:xfrm>
            <a:off x="170484" y="3853541"/>
            <a:ext cx="2085211" cy="878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קו </a:t>
            </a:r>
            <a:r>
              <a:rPr lang="en-US" dirty="0"/>
              <a:t>Parity</a:t>
            </a:r>
            <a:r>
              <a:rPr lang="he-IL" dirty="0"/>
              <a:t> ו-</a:t>
            </a:r>
            <a:r>
              <a:rPr lang="en-US" dirty="0"/>
              <a:t>FRAME</a:t>
            </a:r>
            <a:r>
              <a:rPr lang="he-IL" dirty="0"/>
              <a:t> בוטלו ומחוברים לאדמה.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A877E9-E5C0-4823-8B6D-CABC35AD0F82}"/>
              </a:ext>
            </a:extLst>
          </p:cNvPr>
          <p:cNvSpPr/>
          <p:nvPr/>
        </p:nvSpPr>
        <p:spPr>
          <a:xfrm>
            <a:off x="597235" y="4771684"/>
            <a:ext cx="774365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798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A0A9-AE69-411B-A34C-DA9CB606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שעון מתוקן: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9D8695-7F68-4C0E-82C2-E49B98F04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305" y="1825625"/>
            <a:ext cx="9853390" cy="435133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714199-1A28-46F1-927A-3C0C659C6C4C}"/>
              </a:ext>
            </a:extLst>
          </p:cNvPr>
          <p:cNvSpPr/>
          <p:nvPr/>
        </p:nvSpPr>
        <p:spPr>
          <a:xfrm>
            <a:off x="6466115" y="2266314"/>
            <a:ext cx="2440380" cy="116268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2F712D-E3ED-477F-84B6-BE61590A81B3}"/>
              </a:ext>
            </a:extLst>
          </p:cNvPr>
          <p:cNvSpPr/>
          <p:nvPr/>
        </p:nvSpPr>
        <p:spPr>
          <a:xfrm>
            <a:off x="10430277" y="3060670"/>
            <a:ext cx="1715984" cy="6503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הוספת נגדים ל-</a:t>
            </a:r>
            <a:r>
              <a:rPr lang="en-US" dirty="0"/>
              <a:t>DACCLK2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E32160-4B44-454E-84AD-3496A623853D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 flipV="1">
            <a:off x="8906495" y="2847657"/>
            <a:ext cx="1523782" cy="538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B6BFB0EA-78EA-4E3E-8C71-9F495E0622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2539884"/>
                  </p:ext>
                </p:extLst>
              </p:nvPr>
            </p:nvGraphicFramePr>
            <p:xfrm>
              <a:off x="10407515" y="3797330"/>
              <a:ext cx="1663539" cy="935741"/>
            </p:xfrm>
            <a:graphic>
              <a:graphicData uri="http://schemas.microsoft.com/office/powerpoint/2016/slidezoom">
                <pslz:sldZm>
                  <pslz:sldZmObj sldId="280" cId="1497462426">
                    <pslz:zmPr id="{701FE281-AC80-4513-BA62-A7E6736B9DE9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63539" cy="93574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6BFB0EA-78EA-4E3E-8C71-9F495E0622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07515" y="3797330"/>
                <a:ext cx="1663539" cy="93574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2396FA-C3A1-49FC-8EE3-E7BB8CA0B080}"/>
              </a:ext>
            </a:extLst>
          </p:cNvPr>
          <p:cNvSpPr/>
          <p:nvPr/>
        </p:nvSpPr>
        <p:spPr>
          <a:xfrm>
            <a:off x="7369510" y="1858201"/>
            <a:ext cx="774365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039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C00C-5AA9-4792-975B-72B66C42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חיבורי נגד לאדמה ל-</a:t>
            </a:r>
            <a:r>
              <a:rPr lang="en-US" dirty="0"/>
              <a:t>DACCLK2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D4D3EB-FC32-4834-ACEF-38A8C6F62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חסרים נגדים לאדמה, שנוספו במיוחד לאחר מכן באחד התיקונים.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A8E97-A292-4D1A-9F40-9A76DFB029A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645" y="2765743"/>
            <a:ext cx="3902710" cy="13265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3F28C5-BCB7-4D47-B954-FEE52DCA11F4}"/>
              </a:ext>
            </a:extLst>
          </p:cNvPr>
          <p:cNvSpPr/>
          <p:nvPr/>
        </p:nvSpPr>
        <p:spPr>
          <a:xfrm>
            <a:off x="380010" y="312902"/>
            <a:ext cx="1058272" cy="73627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תוקן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3C44B2-7A38-4539-84AB-2B98B1635C65}"/>
              </a:ext>
            </a:extLst>
          </p:cNvPr>
          <p:cNvSpPr/>
          <p:nvPr/>
        </p:nvSpPr>
        <p:spPr>
          <a:xfrm>
            <a:off x="6569410" y="4315651"/>
            <a:ext cx="774365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62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5804-A029-458F-AB1B-1DE9B74D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תיקונים בספקי אנרגיה ל-</a:t>
            </a:r>
            <a:r>
              <a:rPr lang="en-US" dirty="0"/>
              <a:t>DAC</a:t>
            </a:r>
            <a:r>
              <a:rPr lang="he-IL" dirty="0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72435-6338-4833-A7FF-6F5F29A68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98" y="3085182"/>
            <a:ext cx="8606002" cy="32838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2B90D2-6AAF-422D-91AB-D8AEB958D1B0}"/>
              </a:ext>
            </a:extLst>
          </p:cNvPr>
          <p:cNvSpPr/>
          <p:nvPr/>
        </p:nvSpPr>
        <p:spPr>
          <a:xfrm>
            <a:off x="3009900" y="4145774"/>
            <a:ext cx="268680" cy="5024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28BD23-37EC-49D9-885F-F1F046153807}"/>
              </a:ext>
            </a:extLst>
          </p:cNvPr>
          <p:cNvSpPr/>
          <p:nvPr/>
        </p:nvSpPr>
        <p:spPr>
          <a:xfrm>
            <a:off x="2502766" y="1412381"/>
            <a:ext cx="1715984" cy="6503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שינוי ערך נגד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BE77D8-80D9-4B57-BB0F-5E8CBA6A093A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3144240" y="2062750"/>
            <a:ext cx="216518" cy="2083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420E0A-4749-4F29-8B38-853C8DBFFB4F}"/>
              </a:ext>
            </a:extLst>
          </p:cNvPr>
          <p:cNvSpPr/>
          <p:nvPr/>
        </p:nvSpPr>
        <p:spPr>
          <a:xfrm>
            <a:off x="5309156" y="5657850"/>
            <a:ext cx="4152343" cy="71120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18DFAF-D379-4D8F-B6CE-ED86F785AC15}"/>
              </a:ext>
            </a:extLst>
          </p:cNvPr>
          <p:cNvSpPr/>
          <p:nvPr/>
        </p:nvSpPr>
        <p:spPr>
          <a:xfrm>
            <a:off x="6885699" y="2116132"/>
            <a:ext cx="2184400" cy="6503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/>
              <a:t>הוספת ענף נוסף ל-</a:t>
            </a:r>
            <a:r>
              <a:rPr lang="en-US" dirty="0"/>
              <a:t>1.2vDIGI_DACx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E6B446-C9CE-4EB5-A6A1-0AD57B61D208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 flipH="1">
            <a:off x="7385328" y="2766501"/>
            <a:ext cx="592571" cy="2891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4" name="Slide Zoom 23">
                <a:extLst>
                  <a:ext uri="{FF2B5EF4-FFF2-40B4-BE49-F238E27FC236}">
                    <a16:creationId xmlns:a16="http://schemas.microsoft.com/office/drawing/2014/main" id="{17D1628A-712E-4BC9-919E-64D01CAD78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173917"/>
                  </p:ext>
                </p:extLst>
              </p:nvPr>
            </p:nvGraphicFramePr>
            <p:xfrm>
              <a:off x="576098" y="713699"/>
              <a:ext cx="1926668" cy="1083751"/>
            </p:xfrm>
            <a:graphic>
              <a:graphicData uri="http://schemas.microsoft.com/office/powerpoint/2016/slidezoom">
                <pslz:sldZm>
                  <pslz:sldZmObj sldId="283" cId="1031182935">
                    <pslz:zmPr id="{4529B072-50DE-4989-9B74-EBA1A78C13EA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26668" cy="108375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4" name="Slide Zoom 2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7D1628A-712E-4BC9-919E-64D01CAD78C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098" y="713699"/>
                <a:ext cx="1926668" cy="108375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9A806AA4-4024-4C61-8E87-F066D714978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46539780"/>
                  </p:ext>
                </p:extLst>
              </p:nvPr>
            </p:nvGraphicFramePr>
            <p:xfrm>
              <a:off x="576101" y="1816224"/>
              <a:ext cx="1926666" cy="1083750"/>
            </p:xfrm>
            <a:graphic>
              <a:graphicData uri="http://schemas.microsoft.com/office/powerpoint/2016/slidezoom">
                <pslz:sldZm>
                  <pslz:sldZmObj sldId="290" cId="466787082">
                    <pslz:zmPr id="{478AD9B2-4C0D-4F4A-B84F-ED1D9951757C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26666" cy="10837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Slide Zoom 26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9A806AA4-4024-4C61-8E87-F066D71497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6101" y="1816224"/>
                <a:ext cx="1926666" cy="10837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2CA44A-C99B-40E2-A52C-9DDDC802D01D}"/>
              </a:ext>
            </a:extLst>
          </p:cNvPr>
          <p:cNvSpPr/>
          <p:nvPr/>
        </p:nvSpPr>
        <p:spPr>
          <a:xfrm>
            <a:off x="2946731" y="1020563"/>
            <a:ext cx="1187119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13-14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70FD204-FA2A-40DE-8586-2D6AF9D2746A}"/>
              </a:ext>
            </a:extLst>
          </p:cNvPr>
          <p:cNvSpPr/>
          <p:nvPr/>
        </p:nvSpPr>
        <p:spPr>
          <a:xfrm>
            <a:off x="7586069" y="1704460"/>
            <a:ext cx="1129306" cy="375537"/>
          </a:xfrm>
          <a:prstGeom prst="roundRect">
            <a:avLst/>
          </a:prstGeom>
          <a:solidFill>
            <a:srgbClr val="DE2A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Fix</a:t>
            </a:r>
            <a:r>
              <a:rPr lang="he-IL" dirty="0"/>
              <a:t>15-16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42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FF24B-9665-481D-AC60-F9ECB344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אנרגיה- שינוי מתחים לרגולטורים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B813-B343-4B51-9DBB-07F95384E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U12,U13,U17,U18</a:t>
            </a:r>
            <a:r>
              <a:rPr lang="he-IL" dirty="0"/>
              <a:t>: מתח הכניסה ב-</a:t>
            </a:r>
            <a:r>
              <a:rPr lang="en-US" dirty="0"/>
              <a:t>IN</a:t>
            </a:r>
            <a:r>
              <a:rPr lang="he-IL" dirty="0"/>
              <a:t> כרגע מוגדר להיות </a:t>
            </a:r>
            <a:r>
              <a:rPr lang="en-US" dirty="0"/>
              <a:t>1.2v</a:t>
            </a:r>
            <a:r>
              <a:rPr lang="he-IL" dirty="0"/>
              <a:t> והוא צריך להיות </a:t>
            </a:r>
            <a:r>
              <a:rPr lang="en-US" dirty="0"/>
              <a:t>1.4v</a:t>
            </a:r>
            <a:r>
              <a:rPr lang="he-IL" dirty="0"/>
              <a:t> על מנת לעבור את המגבלה של ה-</a:t>
            </a:r>
            <a:r>
              <a:rPr lang="en-US" dirty="0">
                <a:hlinkClick r:id="rId2"/>
              </a:rPr>
              <a:t>Undervoltage Lockout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בנוסף, בשני ה-</a:t>
            </a:r>
            <a:r>
              <a:rPr lang="en-US" dirty="0"/>
              <a:t>DAC</a:t>
            </a:r>
            <a:r>
              <a:rPr lang="he-IL" dirty="0"/>
              <a:t> יש צורך להוסיף ענף של </a:t>
            </a:r>
            <a:r>
              <a:rPr lang="en-US" dirty="0"/>
              <a:t>1.2VDIGI_DACx</a:t>
            </a:r>
            <a:r>
              <a:rPr lang="he-IL" dirty="0"/>
              <a:t> במקום הדרך שהוא מחובר כרגע, ללא הרגולטור.</a:t>
            </a:r>
          </a:p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3B6A2-4BF4-4544-8E83-5CF7949E66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61" r="37561" b="21990"/>
          <a:stretch/>
        </p:blipFill>
        <p:spPr>
          <a:xfrm>
            <a:off x="425137" y="3855337"/>
            <a:ext cx="2725388" cy="2321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634698-5479-4D9D-873A-D41562FDB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044" y="3862065"/>
            <a:ext cx="871659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82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FF24B-9665-481D-AC60-F9ECB344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אנרגיה- שינוי מתחים לרגולטורים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AB813-B343-4B51-9DBB-07F95384E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54980" y="2026012"/>
                <a:ext cx="6553200" cy="4351338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dirty="0"/>
                  <a:t>על מנת לסדר את המתח לרגולטורים, נצטרך להתעסק </a:t>
                </a:r>
                <a:r>
                  <a:rPr lang="he-IL" dirty="0">
                    <a:hlinkClick r:id="rId2"/>
                  </a:rPr>
                  <a:t>בממיר</a:t>
                </a:r>
                <a:r>
                  <a:rPr lang="he-IL" dirty="0"/>
                  <a:t> שלפני. לפי </a:t>
                </a:r>
                <a:r>
                  <a:rPr lang="he-IL" dirty="0" err="1"/>
                  <a:t>הדאטאשיט</a:t>
                </a:r>
                <a:r>
                  <a:rPr lang="he-IL" dirty="0"/>
                  <a:t>:</a:t>
                </a:r>
              </a:p>
              <a:p>
                <a:pPr algn="r" rtl="1"/>
                <a:endParaRPr lang="he-IL" dirty="0"/>
              </a:p>
              <a:p>
                <a:pPr algn="r" rtl="1"/>
                <a:endParaRPr lang="en-US" dirty="0"/>
              </a:p>
              <a:p>
                <a:pPr algn="r" rtl="1"/>
                <a:r>
                  <a:rPr lang="he-IL" dirty="0"/>
                  <a:t>נניח והולכים על מתח כניסה של </a:t>
                </a:r>
                <a:r>
                  <a:rPr lang="en-US" dirty="0"/>
                  <a:t>1.5v</a:t>
                </a:r>
                <a:r>
                  <a:rPr lang="he-IL" dirty="0"/>
                  <a:t>, נצטרך להחליף את נגד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he-IL" dirty="0"/>
                  <a:t> בנגד בערך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273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he-IL" dirty="0"/>
                  <a:t>.</a:t>
                </a:r>
                <a:r>
                  <a:rPr lang="en-US" dirty="0"/>
                  <a:t> </a:t>
                </a:r>
                <a:r>
                  <a:rPr lang="he-IL" dirty="0"/>
                  <a:t>הנגד בתמונה הוחלף בנגד הזה:</a:t>
                </a:r>
                <a:br>
                  <a:rPr lang="en-US" dirty="0"/>
                </a:br>
                <a:r>
                  <a:rPr lang="en-US" dirty="0"/>
                  <a:t>Vishay CRCW2010270KFKEF</a:t>
                </a:r>
              </a:p>
              <a:p>
                <a:pPr algn="r" rt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AB813-B343-4B51-9DBB-07F95384E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54980" y="2026012"/>
                <a:ext cx="6553200" cy="4351338"/>
              </a:xfrm>
              <a:blipFill>
                <a:blip r:embed="rId3"/>
                <a:stretch>
                  <a:fillRect l="-2047" t="-2381" r="-1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65CC02B-06C6-4675-AE8A-6E381FD59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" y="1690688"/>
            <a:ext cx="5189220" cy="1495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C7F529-0568-4A88-ABBB-D89BB607E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3769642"/>
            <a:ext cx="3889770" cy="260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87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CFF15A-C91F-49E0-BE28-F5415DAD8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43" y="111370"/>
            <a:ext cx="2093303" cy="30535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C68521-4880-4A8C-BC2F-48BD2DD0A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3" y="3146090"/>
            <a:ext cx="5569375" cy="3465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92139D-A5C1-4FC7-A28F-6C358345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התאמת </a:t>
            </a:r>
            <a:r>
              <a:rPr lang="en-US" dirty="0"/>
              <a:t>AD9643</a:t>
            </a:r>
            <a:r>
              <a:rPr lang="he-IL" dirty="0"/>
              <a:t> ל-</a:t>
            </a:r>
            <a:r>
              <a:rPr lang="en-US" dirty="0"/>
              <a:t>PCB</a:t>
            </a:r>
            <a:r>
              <a:rPr lang="he-IL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A1521-48BA-469B-AF9C-2D48610FC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מקבל מתח מ-</a:t>
            </a:r>
            <a:r>
              <a:rPr lang="en-US" dirty="0"/>
              <a:t>1.8V_AVDD</a:t>
            </a:r>
            <a:r>
              <a:rPr lang="he-IL" dirty="0"/>
              <a:t> ו-</a:t>
            </a:r>
            <a:r>
              <a:rPr lang="en-US" dirty="0"/>
              <a:t> 1.8V_DRVDD</a:t>
            </a:r>
            <a:r>
              <a:rPr lang="he-IL" dirty="0"/>
              <a:t> </a:t>
            </a:r>
            <a:br>
              <a:rPr lang="en-US" dirty="0"/>
            </a:br>
            <a:r>
              <a:rPr lang="he-IL" dirty="0"/>
              <a:t>בבלעדיות (הם הרכיבים היחידים שמשתמשים בהם)</a:t>
            </a:r>
          </a:p>
          <a:p>
            <a:pPr algn="r" rtl="1"/>
            <a:r>
              <a:rPr lang="he-IL" dirty="0"/>
              <a:t>נוספו </a:t>
            </a:r>
            <a:r>
              <a:rPr lang="en-US" dirty="0"/>
              <a:t>P16</a:t>
            </a:r>
            <a:r>
              <a:rPr lang="he-IL" dirty="0"/>
              <a:t> ו-</a:t>
            </a:r>
            <a:r>
              <a:rPr lang="en-US" dirty="0"/>
              <a:t>P17</a:t>
            </a:r>
            <a:r>
              <a:rPr lang="he-IL" dirty="0"/>
              <a:t> כקווי שליטה.</a:t>
            </a:r>
          </a:p>
          <a:p>
            <a:pPr algn="r" rtl="1"/>
            <a:r>
              <a:rPr lang="he-IL" dirty="0"/>
              <a:t>נוספו מערכי נגדים (</a:t>
            </a:r>
            <a:r>
              <a:rPr lang="en-US" dirty="0"/>
              <a:t>RN3-RN6</a:t>
            </a:r>
            <a:r>
              <a:rPr lang="he-IL" dirty="0"/>
              <a:t>)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048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9F28-78E3-4B44-B8A9-286617B8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התאמת </a:t>
            </a:r>
            <a:r>
              <a:rPr lang="en-US" dirty="0"/>
              <a:t>ADC3569</a:t>
            </a:r>
            <a:r>
              <a:rPr lang="he-IL" dirty="0"/>
              <a:t> ל-</a:t>
            </a:r>
            <a:r>
              <a:rPr lang="en-US" dirty="0"/>
              <a:t>PCB</a:t>
            </a:r>
            <a:r>
              <a:rPr lang="he-IL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3065-6003-4CB9-A26C-B591D2E3D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520" y="1825625"/>
            <a:ext cx="7574280" cy="4351338"/>
          </a:xfrm>
        </p:spPr>
        <p:txBody>
          <a:bodyPr/>
          <a:lstStyle/>
          <a:p>
            <a:pPr algn="r" rtl="1"/>
            <a:r>
              <a:rPr lang="he-IL" dirty="0"/>
              <a:t>כמו ב-</a:t>
            </a:r>
            <a:r>
              <a:rPr lang="en-US" dirty="0"/>
              <a:t>evaluation board</a:t>
            </a:r>
            <a:r>
              <a:rPr lang="he-IL" dirty="0"/>
              <a:t> של ה-</a:t>
            </a:r>
            <a:r>
              <a:rPr lang="en-US" dirty="0"/>
              <a:t>ADC3669</a:t>
            </a:r>
            <a:r>
              <a:rPr lang="he-IL" dirty="0"/>
              <a:t> מאותה סדרה, המוצאים מחוברים לנגדים בעלי התנגדות נמוכה (בשרטוט שם מחוברים ל-</a:t>
            </a:r>
            <a:r>
              <a:rPr lang="en-US" dirty="0"/>
              <a:t> </a:t>
            </a:r>
            <a:r>
              <a:rPr lang="he-IL" dirty="0"/>
              <a:t>0 </a:t>
            </a:r>
            <a:r>
              <a:rPr lang="he-IL" dirty="0" err="1"/>
              <a:t>אוהם</a:t>
            </a:r>
            <a:r>
              <a:rPr lang="he-IL" dirty="0"/>
              <a:t>), לפני שמחוברים לרגליים של </a:t>
            </a:r>
            <a:r>
              <a:rPr lang="he-IL" dirty="0" err="1"/>
              <a:t>הבורד</a:t>
            </a:r>
            <a:r>
              <a:rPr lang="he-IL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A5C0F-DBC1-44D1-9FDA-47C6A18B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60" y="154100"/>
            <a:ext cx="3726259" cy="65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68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9F28-78E3-4B44-B8A9-286617B8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מסלול כניסה ל-</a:t>
            </a:r>
            <a:r>
              <a:rPr lang="en-US" dirty="0"/>
              <a:t>ADC</a:t>
            </a:r>
            <a:r>
              <a:rPr lang="he-IL" dirty="0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00081-FE49-4BF6-B895-B74342A81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430" y="2413293"/>
            <a:ext cx="8294077" cy="295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61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2C36-6827-44B9-837A-07AD779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PORT P1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85F9A-F283-41A6-89D3-6B5986C3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905"/>
            <a:ext cx="10515600" cy="4351338"/>
          </a:xfrm>
        </p:spPr>
        <p:txBody>
          <a:bodyPr/>
          <a:lstStyle/>
          <a:p>
            <a:pPr algn="r" rtl="1"/>
            <a:r>
              <a:rPr lang="he-IL" dirty="0"/>
              <a:t>רגליים פנויות </a:t>
            </a:r>
            <a:r>
              <a:rPr lang="he-IL" dirty="0" err="1"/>
              <a:t>מהבורד</a:t>
            </a:r>
            <a:r>
              <a:rPr lang="he-IL" dirty="0"/>
              <a:t> מחוברות ל-</a:t>
            </a:r>
            <a:r>
              <a:rPr lang="en-US" dirty="0"/>
              <a:t>P1</a:t>
            </a:r>
            <a:r>
              <a:rPr lang="he-IL" dirty="0"/>
              <a:t> לטובת תקשורת עתידית עם </a:t>
            </a:r>
            <a:r>
              <a:rPr lang="he-IL" dirty="0" err="1"/>
              <a:t>בורד</a:t>
            </a:r>
            <a:r>
              <a:rPr lang="he-IL" dirty="0"/>
              <a:t> נוסף.</a:t>
            </a:r>
          </a:p>
          <a:p>
            <a:pPr algn="r" rt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C1F2C-F3A3-4A09-A445-169F2ADA5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133" y="4476565"/>
            <a:ext cx="5508314" cy="1445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ED62BA-9E13-457E-9D34-31ED61F7B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57" y="2858721"/>
            <a:ext cx="2727675" cy="363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1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4080</TotalTime>
  <Words>726</Words>
  <Application>Microsoft Office PowerPoint</Application>
  <PresentationFormat>Widescreen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תיקוני חומרה שבוצעו במערכת</vt:lpstr>
      <vt:lpstr>ג'אמפר J2 החדש (מחובר ל-DAC1 ולחלק מה-ADC החדש):</vt:lpstr>
      <vt:lpstr>שינויי  רגליים SPI:</vt:lpstr>
      <vt:lpstr>השפעה על התוכנה:</vt:lpstr>
      <vt:lpstr>ניתוק אדמה מ-V_DD:</vt:lpstr>
      <vt:lpstr>מחיקות שהתבצעו:</vt:lpstr>
      <vt:lpstr>ביטים הפוכים J2 :</vt:lpstr>
      <vt:lpstr>ג'אמפר J1 החדש (מחובר ל-DAC2 ולחלק מה-ADC החדש):</vt:lpstr>
      <vt:lpstr>חיבור שעון:</vt:lpstr>
      <vt:lpstr>ביטים הפוכים J1 :</vt:lpstr>
      <vt:lpstr>DAC1 מתוקן:</vt:lpstr>
      <vt:lpstr>DAC1 תיקון מוצאים הפוכים</vt:lpstr>
      <vt:lpstr>קווי LVDS הפוכים ב-DAC1:</vt:lpstr>
      <vt:lpstr>DAC2 מתוקן:</vt:lpstr>
      <vt:lpstr>שעון מתוקן:</vt:lpstr>
      <vt:lpstr>חיבורי נגד לאדמה ל-DACCLK2</vt:lpstr>
      <vt:lpstr>תיקונים בספקי אנרגיה ל-DAC:</vt:lpstr>
      <vt:lpstr>אנרגיה- שינוי מתחים לרגולטורים</vt:lpstr>
      <vt:lpstr>אנרגיה- שינוי מתחים לרגולטורים</vt:lpstr>
      <vt:lpstr>התאמת AD9643 ל-PCB:</vt:lpstr>
      <vt:lpstr>התאמת ADC3569 ל-PCB:</vt:lpstr>
      <vt:lpstr>מסלול כניסה ל-ADC:</vt:lpstr>
      <vt:lpstr>PORT P1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תיקוני חומרה שבוצעו במערכת</dc:title>
  <dc:creator>Tomer Sharon</dc:creator>
  <cp:lastModifiedBy>Tomer Sharon</cp:lastModifiedBy>
  <cp:revision>27</cp:revision>
  <dcterms:created xsi:type="dcterms:W3CDTF">2025-11-03T12:04:13Z</dcterms:created>
  <dcterms:modified xsi:type="dcterms:W3CDTF">2025-12-09T07:41:33Z</dcterms:modified>
</cp:coreProperties>
</file>